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4630400" cy="8229600"/>
  <p:notesSz cx="8229600" cy="14630400"/>
  <p:embeddedFontLst>
    <p:embeddedFont>
      <p:font typeface="Consolas" panose="020B0609020204030204" pitchFamily="49" charset="0"/>
      <p:regular r:id="rId20"/>
      <p:bold r:id="rId21"/>
      <p:italic r:id="rId22"/>
      <p:boldItalic r:id="rId23"/>
    </p:embeddedFont>
    <p:embeddedFont>
      <p:font typeface="Inter" panose="020B0604020202020204" charset="0"/>
      <p:bold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6" roundtripDataSignature="AMtx7mhJ4fMb+vAzepdZIroaWNHZujGR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76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/>
              <a:t>‹#›</a:t>
            </a:fld>
            <a:endParaRPr sz="1200" b="0" i="0" u="none" strike="noStrike" cap="none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" name="Google Shape;220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0" name="Google Shape;230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0" name="Google Shape;240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7" name="Google Shape;25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8" name="Google Shape;268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9" name="Google Shape;289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9" name="Google Shape;299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 master">
  <p:cSld name="Slide 1 master">
    <p:bg>
      <p:bgPr>
        <a:solidFill>
          <a:srgbClr val="000000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2 master">
  <p:cSld name="Slide 2 master">
    <p:bg>
      <p:bgPr>
        <a:solidFill>
          <a:srgbClr val="000000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3 master">
  <p:cSld name="Slide 3 master">
    <p:bg>
      <p:bgPr>
        <a:solidFill>
          <a:srgbClr val="000000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4 master">
  <p:cSld name="Slide 4 master">
    <p:bg>
      <p:bgPr>
        <a:solidFill>
          <a:srgbClr val="000000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2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5 master">
  <p:cSld name="Slide 5 master">
    <p:bg>
      <p:bgPr>
        <a:solidFill>
          <a:srgbClr val="000000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2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6 master">
  <p:cSld name="Slide 6 master">
    <p:bg>
      <p:bgPr>
        <a:solidFill>
          <a:srgbClr val="000000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2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7 master">
  <p:cSld name="Slide 7 master">
    <p:bg>
      <p:bgPr>
        <a:solidFill>
          <a:srgbClr val="000000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2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8 master">
  <p:cSld name="Slide 8 master">
    <p:bg>
      <p:bgPr>
        <a:solidFill>
          <a:srgbClr val="000000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2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9 master">
  <p:cSld name="Slide 9 master">
    <p:bg>
      <p:bgPr>
        <a:solidFill>
          <a:srgbClr val="000000"/>
        </a:soli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2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0 master">
  <p:cSld name="Slide 10 master">
    <p:bg>
      <p:bgPr>
        <a:solidFill>
          <a:srgbClr val="000000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2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1 master">
  <p:cSld name="Slide 11 master">
    <p:bg>
      <p:bgPr>
        <a:solidFill>
          <a:srgbClr val="000000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2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2 master">
  <p:cSld name="Slide 12 master">
    <p:bg>
      <p:bgPr>
        <a:solidFill>
          <a:srgbClr val="000000"/>
        </a:solidFill>
        <a:effectLst/>
      </p:bgPr>
    </p:bg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3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3 master">
  <p:cSld name="Slide 13 master">
    <p:bg>
      <p:bgPr>
        <a:solidFill>
          <a:srgbClr val="000000"/>
        </a:solidFill>
        <a:effectLst/>
      </p:bgPr>
    </p:bg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3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4 master">
  <p:cSld name="Slide 14 master">
    <p:bg>
      <p:bgPr>
        <a:solidFill>
          <a:srgbClr val="000000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3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5 master">
  <p:cSld name="Slide 15 master">
    <p:bg>
      <p:bgPr>
        <a:solidFill>
          <a:srgbClr val="000000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3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6 master">
  <p:cSld name="Slide 16 master">
    <p:bg>
      <p:bgPr>
        <a:solidFill>
          <a:srgbClr val="000000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3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7 master">
  <p:cSld name="Slide 17 master">
    <p:bg>
      <p:bgPr>
        <a:solidFill>
          <a:srgbClr val="000000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3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"/>
          <p:cNvSpPr/>
          <p:nvPr/>
        </p:nvSpPr>
        <p:spPr>
          <a:xfrm>
            <a:off x="6280190" y="2201108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Inter"/>
              <a:buNone/>
            </a:pPr>
            <a:r>
              <a:rPr lang="en-US" sz="445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Introduction to React Native Core Components</a:t>
            </a:r>
            <a:endParaRPr sz="4450" b="0" i="0" u="none" strike="noStrike" cap="none"/>
          </a:p>
        </p:txBody>
      </p:sp>
      <p:sp>
        <p:nvSpPr>
          <p:cNvPr id="69" name="Google Shape;69;p1"/>
          <p:cNvSpPr/>
          <p:nvPr/>
        </p:nvSpPr>
        <p:spPr>
          <a:xfrm>
            <a:off x="6280190" y="3958828"/>
            <a:ext cx="7556421" cy="1088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Welcome to our guide on React Native's essential building blocks. This presentation will help you understand the core components needed to build cross-platform mobile apps.</a:t>
            </a:r>
            <a:endParaRPr sz="1750" b="0" i="0" u="none" strike="noStrike" cap="none"/>
          </a:p>
        </p:txBody>
      </p:sp>
      <p:sp>
        <p:nvSpPr>
          <p:cNvPr id="70" name="Google Shape;70;p1"/>
          <p:cNvSpPr/>
          <p:nvPr/>
        </p:nvSpPr>
        <p:spPr>
          <a:xfrm>
            <a:off x="6280190" y="5302687"/>
            <a:ext cx="7556421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You'll learn how to leverage JavaScript and React to create native applications that run seamlessly on both iOS and Android.</a:t>
            </a:r>
            <a:endParaRPr sz="1750" b="0" i="0" u="none" strike="noStrike" cap="none"/>
          </a:p>
        </p:txBody>
      </p:sp>
      <p:pic>
        <p:nvPicPr>
          <p:cNvPr id="71" name="Google Shape;71;p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307735" y="228600"/>
            <a:ext cx="1094065" cy="426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"/>
          <p:cNvSpPr/>
          <p:nvPr/>
        </p:nvSpPr>
        <p:spPr>
          <a:xfrm>
            <a:off x="793790" y="1240972"/>
            <a:ext cx="11841718" cy="2007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Inter"/>
              <a:buNone/>
            </a:pPr>
            <a:r>
              <a:rPr lang="en-US" sz="445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The Power of Cross-Platform Development</a:t>
            </a:r>
            <a:endParaRPr sz="4450" b="0" i="0" u="none" strike="noStrike" cap="none" dirty="0"/>
          </a:p>
        </p:txBody>
      </p:sp>
      <p:sp>
        <p:nvSpPr>
          <p:cNvPr id="78" name="Google Shape;78;p2"/>
          <p:cNvSpPr/>
          <p:nvPr/>
        </p:nvSpPr>
        <p:spPr>
          <a:xfrm>
            <a:off x="793790" y="381571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One Codebase</a:t>
            </a:r>
            <a:endParaRPr sz="2200" b="0" i="0" u="none" strike="noStrike" cap="none"/>
          </a:p>
        </p:txBody>
      </p:sp>
      <p:sp>
        <p:nvSpPr>
          <p:cNvPr id="79" name="Google Shape;79;p2"/>
          <p:cNvSpPr/>
          <p:nvPr/>
        </p:nvSpPr>
        <p:spPr>
          <a:xfrm>
            <a:off x="793790" y="4396859"/>
            <a:ext cx="3978116" cy="1088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Write once, run everywhere. React Native lets you maintain a single codebase for multiple platforms.</a:t>
            </a:r>
            <a:endParaRPr sz="1750" b="0" i="0" u="none" strike="noStrike" cap="none"/>
          </a:p>
        </p:txBody>
      </p:sp>
      <p:sp>
        <p:nvSpPr>
          <p:cNvPr id="80" name="Google Shape;80;p2"/>
          <p:cNvSpPr/>
          <p:nvPr/>
        </p:nvSpPr>
        <p:spPr>
          <a:xfrm>
            <a:off x="5332928" y="381571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Native Performance</a:t>
            </a:r>
            <a:endParaRPr sz="2200" b="0" i="0" u="none" strike="noStrike" cap="none"/>
          </a:p>
        </p:txBody>
      </p:sp>
      <p:sp>
        <p:nvSpPr>
          <p:cNvPr id="81" name="Google Shape;81;p2"/>
          <p:cNvSpPr/>
          <p:nvPr/>
        </p:nvSpPr>
        <p:spPr>
          <a:xfrm>
            <a:off x="5332928" y="4396859"/>
            <a:ext cx="3978116" cy="1088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Apps built with React Native deliver the smooth, responsive experience users expect.</a:t>
            </a:r>
            <a:endParaRPr sz="1750" b="0" i="0" u="none" strike="noStrike" cap="none"/>
          </a:p>
        </p:txBody>
      </p:sp>
      <p:sp>
        <p:nvSpPr>
          <p:cNvPr id="82" name="Google Shape;82;p2"/>
          <p:cNvSpPr/>
          <p:nvPr/>
        </p:nvSpPr>
        <p:spPr>
          <a:xfrm>
            <a:off x="9872067" y="381571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JavaScript Powered</a:t>
            </a:r>
            <a:endParaRPr sz="2200" b="0" i="0" u="none" strike="noStrike" cap="none"/>
          </a:p>
        </p:txBody>
      </p:sp>
      <p:sp>
        <p:nvSpPr>
          <p:cNvPr id="83" name="Google Shape;83;p2"/>
          <p:cNvSpPr/>
          <p:nvPr/>
        </p:nvSpPr>
        <p:spPr>
          <a:xfrm>
            <a:off x="9872067" y="4396859"/>
            <a:ext cx="3978116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Leverage your existing JavaScript and React skills to build mobile apps.</a:t>
            </a:r>
            <a:endParaRPr sz="1750" b="0" i="0" u="none" strike="noStrike" cap="none"/>
          </a:p>
        </p:txBody>
      </p:sp>
      <p:pic>
        <p:nvPicPr>
          <p:cNvPr id="84" name="Google Shape;84;p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307735" y="228600"/>
            <a:ext cx="1094065" cy="426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283523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3"/>
          <p:cNvSpPr/>
          <p:nvPr/>
        </p:nvSpPr>
        <p:spPr>
          <a:xfrm>
            <a:off x="793790" y="3604617"/>
            <a:ext cx="7794546" cy="708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Inter"/>
              <a:buNone/>
            </a:pPr>
            <a:r>
              <a:rPr lang="en-US" sz="445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Core Components Overview</a:t>
            </a:r>
            <a:endParaRPr sz="4450" b="0" i="0" u="none" strike="noStrike" cap="none"/>
          </a:p>
        </p:txBody>
      </p:sp>
      <p:sp>
        <p:nvSpPr>
          <p:cNvPr id="92" name="Google Shape;92;p3"/>
          <p:cNvSpPr/>
          <p:nvPr/>
        </p:nvSpPr>
        <p:spPr>
          <a:xfrm>
            <a:off x="793790" y="4908709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BE1D0"/>
          </a:solidFill>
          <a:ln w="9525" cap="flat" cmpd="sng">
            <a:solidFill>
              <a:srgbClr val="E1C7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3" name="Google Shape;93;p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8860" y="4951214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3"/>
          <p:cNvSpPr/>
          <p:nvPr/>
        </p:nvSpPr>
        <p:spPr>
          <a:xfrm>
            <a:off x="1530906" y="490870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lang="en-US" sz="22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View</a:t>
            </a:r>
            <a:endParaRPr sz="2200" b="0" i="0" u="none" strike="noStrike" cap="none" dirty="0"/>
          </a:p>
        </p:txBody>
      </p:sp>
      <p:sp>
        <p:nvSpPr>
          <p:cNvPr id="95" name="Google Shape;95;p3"/>
          <p:cNvSpPr/>
          <p:nvPr/>
        </p:nvSpPr>
        <p:spPr>
          <a:xfrm>
            <a:off x="1530906" y="5399127"/>
            <a:ext cx="5670947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The fundamental building block container for layout.</a:t>
            </a:r>
            <a:endParaRPr sz="1750" b="0" i="0" u="none" strike="noStrike" cap="none"/>
          </a:p>
        </p:txBody>
      </p:sp>
      <p:sp>
        <p:nvSpPr>
          <p:cNvPr id="96" name="Google Shape;96;p3"/>
          <p:cNvSpPr/>
          <p:nvPr/>
        </p:nvSpPr>
        <p:spPr>
          <a:xfrm>
            <a:off x="7428667" y="4908709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BE1D0"/>
          </a:solidFill>
          <a:ln w="9525" cap="flat" cmpd="sng">
            <a:solidFill>
              <a:srgbClr val="E1C7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7" name="Google Shape;97;p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513737" y="4951214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3"/>
          <p:cNvSpPr/>
          <p:nvPr/>
        </p:nvSpPr>
        <p:spPr>
          <a:xfrm>
            <a:off x="8165783" y="490870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lang="en-US" sz="22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Text</a:t>
            </a:r>
            <a:endParaRPr sz="2200" b="0" i="0" u="none" strike="noStrike" cap="none" dirty="0"/>
          </a:p>
        </p:txBody>
      </p:sp>
      <p:sp>
        <p:nvSpPr>
          <p:cNvPr id="99" name="Google Shape;99;p3"/>
          <p:cNvSpPr/>
          <p:nvPr/>
        </p:nvSpPr>
        <p:spPr>
          <a:xfrm>
            <a:off x="8165783" y="5399127"/>
            <a:ext cx="5670947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Displays and styles textual content in your app.</a:t>
            </a:r>
            <a:endParaRPr sz="1750" b="0" i="0" u="none" strike="noStrike" cap="none"/>
          </a:p>
        </p:txBody>
      </p:sp>
      <p:sp>
        <p:nvSpPr>
          <p:cNvPr id="100" name="Google Shape;100;p3"/>
          <p:cNvSpPr/>
          <p:nvPr/>
        </p:nvSpPr>
        <p:spPr>
          <a:xfrm>
            <a:off x="793790" y="6243995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BE1D0"/>
          </a:solidFill>
          <a:ln w="9525" cap="flat" cmpd="sng">
            <a:solidFill>
              <a:srgbClr val="E1C7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1" name="Google Shape;101;p3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78860" y="6286500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3"/>
          <p:cNvSpPr/>
          <p:nvPr/>
        </p:nvSpPr>
        <p:spPr>
          <a:xfrm>
            <a:off x="1530906" y="624399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lang="en-US" sz="22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Image</a:t>
            </a:r>
            <a:endParaRPr sz="2200" b="0" i="0" u="none" strike="noStrike" cap="none" dirty="0"/>
          </a:p>
        </p:txBody>
      </p:sp>
      <p:sp>
        <p:nvSpPr>
          <p:cNvPr id="103" name="Google Shape;103;p3"/>
          <p:cNvSpPr/>
          <p:nvPr/>
        </p:nvSpPr>
        <p:spPr>
          <a:xfrm>
            <a:off x="1530906" y="6734413"/>
            <a:ext cx="5670947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Renders local and remote images with customizable styles.</a:t>
            </a:r>
            <a:endParaRPr sz="1750" b="0" i="0" u="none" strike="noStrike" cap="none"/>
          </a:p>
        </p:txBody>
      </p:sp>
      <p:sp>
        <p:nvSpPr>
          <p:cNvPr id="104" name="Google Shape;104;p3"/>
          <p:cNvSpPr/>
          <p:nvPr/>
        </p:nvSpPr>
        <p:spPr>
          <a:xfrm>
            <a:off x="7428667" y="6243995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BE1D0"/>
          </a:solidFill>
          <a:ln w="9525" cap="flat" cmpd="sng">
            <a:solidFill>
              <a:srgbClr val="E1C7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5" name="Google Shape;105;p3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513737" y="6286500"/>
            <a:ext cx="340162" cy="42529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3"/>
          <p:cNvSpPr/>
          <p:nvPr/>
        </p:nvSpPr>
        <p:spPr>
          <a:xfrm>
            <a:off x="8165783" y="6243995"/>
            <a:ext cx="5232083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lang="en-US" sz="22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Text Input, Button, </a:t>
            </a:r>
            <a:r>
              <a:rPr lang="en-US" sz="22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ScrollView</a:t>
            </a:r>
            <a:r>
              <a:rPr lang="en-US" sz="22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2200" b="1" i="0" u="none" strike="noStrike" cap="none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FlatList</a:t>
            </a:r>
            <a:endParaRPr sz="2200" b="0" i="0" u="none" strike="noStrike" cap="none" dirty="0"/>
          </a:p>
        </p:txBody>
      </p:sp>
      <p:sp>
        <p:nvSpPr>
          <p:cNvPr id="107" name="Google Shape;107;p3"/>
          <p:cNvSpPr/>
          <p:nvPr/>
        </p:nvSpPr>
        <p:spPr>
          <a:xfrm>
            <a:off x="8165783" y="6999514"/>
            <a:ext cx="5670947" cy="1230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None/>
            </a:pPr>
            <a:r>
              <a:rPr lang="en-US" sz="1750" b="0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Additional components for interactivity and data display.</a:t>
            </a:r>
            <a:endParaRPr sz="1750" b="0" i="0" u="none" strike="noStrike" cap="none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283523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4"/>
          <p:cNvSpPr/>
          <p:nvPr/>
        </p:nvSpPr>
        <p:spPr>
          <a:xfrm>
            <a:off x="793790" y="3683556"/>
            <a:ext cx="5967651" cy="708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Inter"/>
              <a:buNone/>
            </a:pPr>
            <a:r>
              <a:rPr lang="en-US" sz="445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The View Component</a:t>
            </a:r>
            <a:endParaRPr sz="4450" b="0" i="0" u="none" strike="noStrike" cap="none"/>
          </a:p>
        </p:txBody>
      </p:sp>
      <p:sp>
        <p:nvSpPr>
          <p:cNvPr id="115" name="Google Shape;115;p4"/>
          <p:cNvSpPr/>
          <p:nvPr/>
        </p:nvSpPr>
        <p:spPr>
          <a:xfrm>
            <a:off x="793790" y="4732496"/>
            <a:ext cx="4196358" cy="2648783"/>
          </a:xfrm>
          <a:prstGeom prst="roundRect">
            <a:avLst>
              <a:gd name="adj" fmla="val 3597"/>
            </a:avLst>
          </a:prstGeom>
          <a:solidFill>
            <a:srgbClr val="FBE1D0"/>
          </a:solidFill>
          <a:ln w="9525" cap="flat" cmpd="sng">
            <a:solidFill>
              <a:srgbClr val="E1C7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"/>
          <p:cNvSpPr/>
          <p:nvPr/>
        </p:nvSpPr>
        <p:spPr>
          <a:xfrm>
            <a:off x="1028224" y="496693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Purpose</a:t>
            </a:r>
            <a:endParaRPr sz="2200" b="0" i="0" u="none" strike="noStrike" cap="none"/>
          </a:p>
        </p:txBody>
      </p:sp>
      <p:sp>
        <p:nvSpPr>
          <p:cNvPr id="117" name="Google Shape;117;p4"/>
          <p:cNvSpPr/>
          <p:nvPr/>
        </p:nvSpPr>
        <p:spPr>
          <a:xfrm>
            <a:off x="1028224" y="5457349"/>
            <a:ext cx="3727490" cy="145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Acts as a container for other components. The most fundamental building block in React Native.</a:t>
            </a:r>
            <a:endParaRPr sz="1750" b="0" i="0" u="none" strike="noStrike" cap="none"/>
          </a:p>
        </p:txBody>
      </p:sp>
      <p:sp>
        <p:nvSpPr>
          <p:cNvPr id="118" name="Google Shape;118;p4"/>
          <p:cNvSpPr/>
          <p:nvPr/>
        </p:nvSpPr>
        <p:spPr>
          <a:xfrm>
            <a:off x="5216962" y="4732496"/>
            <a:ext cx="4196358" cy="2648783"/>
          </a:xfrm>
          <a:prstGeom prst="roundRect">
            <a:avLst>
              <a:gd name="adj" fmla="val 3597"/>
            </a:avLst>
          </a:prstGeom>
          <a:solidFill>
            <a:srgbClr val="FBE1D0"/>
          </a:solidFill>
          <a:ln w="9525" cap="flat" cmpd="sng">
            <a:solidFill>
              <a:srgbClr val="E1C7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4"/>
          <p:cNvSpPr/>
          <p:nvPr/>
        </p:nvSpPr>
        <p:spPr>
          <a:xfrm>
            <a:off x="5451396" y="496693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Features</a:t>
            </a:r>
            <a:endParaRPr sz="2200" b="0" i="0" u="none" strike="noStrike" cap="none"/>
          </a:p>
        </p:txBody>
      </p:sp>
      <p:sp>
        <p:nvSpPr>
          <p:cNvPr id="120" name="Google Shape;120;p4"/>
          <p:cNvSpPr/>
          <p:nvPr/>
        </p:nvSpPr>
        <p:spPr>
          <a:xfrm>
            <a:off x="5451396" y="5457349"/>
            <a:ext cx="3727490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Char char="•"/>
            </a:pPr>
            <a:r>
              <a:rPr lang="en-US" sz="175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Flexbox layout capabilities</a:t>
            </a:r>
            <a:endParaRPr sz="1750" b="0" i="0" u="none" strike="noStrike" cap="none"/>
          </a:p>
        </p:txBody>
      </p:sp>
      <p:sp>
        <p:nvSpPr>
          <p:cNvPr id="121" name="Google Shape;121;p4"/>
          <p:cNvSpPr/>
          <p:nvPr/>
        </p:nvSpPr>
        <p:spPr>
          <a:xfrm>
            <a:off x="5451396" y="5899547"/>
            <a:ext cx="3727490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Char char="•"/>
            </a:pPr>
            <a:r>
              <a:rPr lang="en-US" sz="175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Styling options</a:t>
            </a:r>
            <a:endParaRPr sz="1750" b="0" i="0" u="none" strike="noStrike" cap="none"/>
          </a:p>
        </p:txBody>
      </p:sp>
      <p:sp>
        <p:nvSpPr>
          <p:cNvPr id="122" name="Google Shape;122;p4"/>
          <p:cNvSpPr/>
          <p:nvPr/>
        </p:nvSpPr>
        <p:spPr>
          <a:xfrm>
            <a:off x="5451396" y="6341745"/>
            <a:ext cx="3727490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Char char="•"/>
            </a:pPr>
            <a:r>
              <a:rPr lang="en-US" sz="175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Touch handling</a:t>
            </a:r>
            <a:endParaRPr sz="1750" b="0" i="0" u="none" strike="noStrike" cap="none"/>
          </a:p>
        </p:txBody>
      </p:sp>
      <p:sp>
        <p:nvSpPr>
          <p:cNvPr id="123" name="Google Shape;123;p4"/>
          <p:cNvSpPr/>
          <p:nvPr/>
        </p:nvSpPr>
        <p:spPr>
          <a:xfrm>
            <a:off x="5451396" y="6783943"/>
            <a:ext cx="3727490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Char char="•"/>
            </a:pPr>
            <a:r>
              <a:rPr lang="en-US" sz="175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Accessibility support</a:t>
            </a:r>
            <a:endParaRPr sz="1750" b="0" i="0" u="none" strike="noStrike" cap="none"/>
          </a:p>
        </p:txBody>
      </p:sp>
      <p:sp>
        <p:nvSpPr>
          <p:cNvPr id="124" name="Google Shape;124;p4"/>
          <p:cNvSpPr/>
          <p:nvPr/>
        </p:nvSpPr>
        <p:spPr>
          <a:xfrm>
            <a:off x="9640133" y="4732496"/>
            <a:ext cx="4196358" cy="2648783"/>
          </a:xfrm>
          <a:prstGeom prst="roundRect">
            <a:avLst>
              <a:gd name="adj" fmla="val 3597"/>
            </a:avLst>
          </a:prstGeom>
          <a:solidFill>
            <a:srgbClr val="FBE1D0"/>
          </a:solidFill>
          <a:ln w="9525" cap="flat" cmpd="sng">
            <a:solidFill>
              <a:srgbClr val="E1C7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9874568" y="496693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Syntax</a:t>
            </a:r>
            <a:endParaRPr sz="2200" b="0" i="0" u="none" strike="noStrike" cap="none"/>
          </a:p>
        </p:txBody>
      </p:sp>
      <p:sp>
        <p:nvSpPr>
          <p:cNvPr id="126" name="Google Shape;126;p4"/>
          <p:cNvSpPr/>
          <p:nvPr/>
        </p:nvSpPr>
        <p:spPr>
          <a:xfrm>
            <a:off x="9874568" y="5457349"/>
            <a:ext cx="3727490" cy="145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Use opening and closing tags. Apply styles through the style prop that references a style object.</a:t>
            </a:r>
            <a:endParaRPr sz="1750" b="0" i="0" u="none" strike="noStrike" cap="non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"/>
          <p:cNvSpPr/>
          <p:nvPr/>
        </p:nvSpPr>
        <p:spPr>
          <a:xfrm>
            <a:off x="791647" y="621983"/>
            <a:ext cx="4523899" cy="565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50"/>
              <a:buFont typeface="Inter"/>
              <a:buNone/>
            </a:pPr>
            <a:r>
              <a:rPr lang="en-US" sz="355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View Syntax</a:t>
            </a:r>
            <a:endParaRPr sz="3550" b="0" i="0" u="none" strike="noStrike" cap="none"/>
          </a:p>
        </p:txBody>
      </p:sp>
      <p:sp>
        <p:nvSpPr>
          <p:cNvPr id="133" name="Google Shape;133;p5"/>
          <p:cNvSpPr/>
          <p:nvPr/>
        </p:nvSpPr>
        <p:spPr>
          <a:xfrm>
            <a:off x="791647" y="1549360"/>
            <a:ext cx="13047107" cy="6062424"/>
          </a:xfrm>
          <a:prstGeom prst="roundRect">
            <a:avLst>
              <a:gd name="adj" fmla="val 1254"/>
            </a:avLst>
          </a:prstGeom>
          <a:solidFill>
            <a:srgbClr val="FBE1D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5"/>
          <p:cNvSpPr/>
          <p:nvPr/>
        </p:nvSpPr>
        <p:spPr>
          <a:xfrm>
            <a:off x="782717" y="1549360"/>
            <a:ext cx="13064966" cy="6062424"/>
          </a:xfrm>
          <a:prstGeom prst="roundRect">
            <a:avLst>
              <a:gd name="adj" fmla="val 448"/>
            </a:avLst>
          </a:prstGeom>
          <a:solidFill>
            <a:srgbClr val="FBE1D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5"/>
          <p:cNvSpPr/>
          <p:nvPr/>
        </p:nvSpPr>
        <p:spPr>
          <a:xfrm>
            <a:off x="963573" y="1684973"/>
            <a:ext cx="12703254" cy="57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nsolas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import React from 'react';</a:t>
            </a:r>
            <a:endParaRPr sz="1400" b="0" i="0" u="none" strike="noStrike" cap="none"/>
          </a:p>
          <a:p>
            <a:pPr marL="0" marR="0" lvl="0" indent="0" algn="l" rtl="0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nsolas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import { View, Text, StyleSheet } from 'react-native';</a:t>
            </a:r>
            <a:endParaRPr sz="1400" b="0" i="0" u="none" strike="noStrike" cap="none"/>
          </a:p>
          <a:p>
            <a:pPr marL="0" marR="0" lvl="0" indent="0" algn="l" rtl="0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endParaRPr sz="1400" b="0" i="0" u="none" strike="noStrike" cap="none"/>
          </a:p>
          <a:p>
            <a:pPr marL="0" marR="0" lvl="0" indent="0" algn="l" rtl="0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nsolas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const MyComponent = () =&gt; {</a:t>
            </a:r>
            <a:endParaRPr sz="1400" b="0" i="0" u="none" strike="noStrike" cap="none"/>
          </a:p>
          <a:p>
            <a:pPr marL="0" marR="0" lvl="0" indent="0" algn="l" rtl="0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nsolas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  return (</a:t>
            </a:r>
            <a:endParaRPr sz="1400" b="0" i="0" u="none" strike="noStrike" cap="none"/>
          </a:p>
          <a:p>
            <a:pPr marL="0" marR="0" lvl="0" indent="0" algn="l" rtl="0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nsolas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    &lt;View style={styles.container}&gt; </a:t>
            </a:r>
            <a:endParaRPr sz="1400" b="0" i="0" u="none" strike="noStrike" cap="none"/>
          </a:p>
          <a:p>
            <a:pPr marL="0" marR="0" lvl="0" indent="0" algn="l" rtl="0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nsolas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      &lt;Text&gt;Hello, World!&lt;/Text&gt; </a:t>
            </a:r>
            <a:endParaRPr sz="1400" b="0" i="0" u="none" strike="noStrike" cap="none"/>
          </a:p>
          <a:p>
            <a:pPr marL="0" marR="0" lvl="0" indent="0" algn="l" rtl="0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nsolas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    &lt;/View&gt; </a:t>
            </a:r>
            <a:endParaRPr sz="1400" b="0" i="0" u="none" strike="noStrike" cap="none"/>
          </a:p>
          <a:p>
            <a:pPr marL="0" marR="0" lvl="0" indent="0" algn="l" rtl="0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nsolas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  );</a:t>
            </a:r>
            <a:endParaRPr sz="1400" b="0" i="0" u="none" strike="noStrike" cap="none"/>
          </a:p>
          <a:p>
            <a:pPr marL="0" marR="0" lvl="0" indent="0" algn="l" rtl="0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nsolas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1400" b="0" i="0" u="none" strike="noStrike" cap="none"/>
          </a:p>
          <a:p>
            <a:pPr marL="0" marR="0" lvl="0" indent="0" algn="l" rtl="0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endParaRPr sz="1400" b="0" i="0" u="none" strike="noStrike" cap="none"/>
          </a:p>
          <a:p>
            <a:pPr marL="0" marR="0" lvl="0" indent="0" algn="l" rtl="0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nsolas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const styles = StyleSheet.create({</a:t>
            </a:r>
            <a:endParaRPr sz="1400" b="0" i="0" u="none" strike="noStrike" cap="none"/>
          </a:p>
          <a:p>
            <a:pPr marL="0" marR="0" lvl="0" indent="0" algn="l" rtl="0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nsolas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  container: {</a:t>
            </a:r>
            <a:endParaRPr sz="1400" b="0" i="0" u="none" strike="noStrike" cap="none"/>
          </a:p>
          <a:p>
            <a:pPr marL="0" marR="0" lvl="0" indent="0" algn="l" rtl="0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nsolas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    flex: 1,</a:t>
            </a:r>
            <a:endParaRPr sz="1400" b="0" i="0" u="none" strike="noStrike" cap="none"/>
          </a:p>
          <a:p>
            <a:pPr marL="0" marR="0" lvl="0" indent="0" algn="l" rtl="0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nsolas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    justifyContent: 'center',</a:t>
            </a:r>
            <a:endParaRPr sz="1400" b="0" i="0" u="none" strike="noStrike" cap="none"/>
          </a:p>
          <a:p>
            <a:pPr marL="0" marR="0" lvl="0" indent="0" algn="l" rtl="0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nsolas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    alignItems: 'center',</a:t>
            </a:r>
            <a:endParaRPr sz="1400" b="0" i="0" u="none" strike="noStrike" cap="none"/>
          </a:p>
          <a:p>
            <a:pPr marL="0" marR="0" lvl="0" indent="0" algn="l" rtl="0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nsolas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  },</a:t>
            </a:r>
            <a:endParaRPr sz="1400" b="0" i="0" u="none" strike="noStrike" cap="none"/>
          </a:p>
          <a:p>
            <a:pPr marL="0" marR="0" lvl="0" indent="0" algn="l" rtl="0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nsolas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});</a:t>
            </a:r>
            <a:endParaRPr sz="1400" b="0" i="0" u="none" strike="noStrike" cap="none"/>
          </a:p>
          <a:p>
            <a:pPr marL="0" marR="0" lvl="0" indent="0" algn="l" rtl="0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endParaRPr sz="1400" b="0" i="0" u="none" strike="noStrike" cap="none"/>
          </a:p>
          <a:p>
            <a:pPr marL="0" marR="0" lvl="0" indent="0" algn="l" rtl="0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onsolas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export default MyComponent;</a:t>
            </a:r>
            <a:endParaRPr sz="1400" b="0" i="0" u="none" strike="noStrike" cap="none"/>
          </a:p>
        </p:txBody>
      </p:sp>
      <p:pic>
        <p:nvPicPr>
          <p:cNvPr id="136" name="Google Shape;136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307735" y="228600"/>
            <a:ext cx="1094065" cy="426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"/>
          <p:cNvSpPr/>
          <p:nvPr/>
        </p:nvSpPr>
        <p:spPr>
          <a:xfrm>
            <a:off x="793790" y="1251109"/>
            <a:ext cx="5783818" cy="708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Inter"/>
              <a:buNone/>
            </a:pPr>
            <a:r>
              <a:rPr lang="en-US" sz="445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The Text Component</a:t>
            </a:r>
            <a:endParaRPr sz="4450" b="0" i="0" u="none" strike="noStrike" cap="none"/>
          </a:p>
        </p:txBody>
      </p:sp>
      <p:sp>
        <p:nvSpPr>
          <p:cNvPr id="143" name="Google Shape;143;p6"/>
          <p:cNvSpPr/>
          <p:nvPr/>
        </p:nvSpPr>
        <p:spPr>
          <a:xfrm>
            <a:off x="1857256" y="286154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Display Text</a:t>
            </a:r>
            <a:endParaRPr sz="2200" b="0" i="0" u="none" strike="noStrike" cap="none"/>
          </a:p>
        </p:txBody>
      </p:sp>
      <p:sp>
        <p:nvSpPr>
          <p:cNvPr id="144" name="Google Shape;144;p6"/>
          <p:cNvSpPr/>
          <p:nvPr/>
        </p:nvSpPr>
        <p:spPr>
          <a:xfrm>
            <a:off x="793790" y="3351967"/>
            <a:ext cx="3898702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Renders strings and text content visibly on the screen.</a:t>
            </a:r>
            <a:endParaRPr sz="1750" b="0" i="0" u="none" strike="noStrike" cap="none"/>
          </a:p>
        </p:txBody>
      </p:sp>
      <p:pic>
        <p:nvPicPr>
          <p:cNvPr id="145" name="Google Shape;145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32653" y="2413516"/>
            <a:ext cx="4564975" cy="456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26731" y="3176588"/>
            <a:ext cx="339328" cy="42422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6"/>
          <p:cNvSpPr/>
          <p:nvPr/>
        </p:nvSpPr>
        <p:spPr>
          <a:xfrm>
            <a:off x="9937790" y="286154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Style Text</a:t>
            </a:r>
            <a:endParaRPr sz="2200" b="0" i="0" u="none" strike="noStrike" cap="none"/>
          </a:p>
        </p:txBody>
      </p:sp>
      <p:sp>
        <p:nvSpPr>
          <p:cNvPr id="148" name="Google Shape;148;p6"/>
          <p:cNvSpPr/>
          <p:nvPr/>
        </p:nvSpPr>
        <p:spPr>
          <a:xfrm>
            <a:off x="9937790" y="3351967"/>
            <a:ext cx="3898821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Apply fonts, colors, alignment, and other typographic styles.</a:t>
            </a:r>
            <a:endParaRPr sz="1750" b="0" i="0" u="none" strike="noStrike" cap="none"/>
          </a:p>
        </p:txBody>
      </p:sp>
      <p:pic>
        <p:nvPicPr>
          <p:cNvPr id="149" name="Google Shape;149;p6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32653" y="2413516"/>
            <a:ext cx="4564975" cy="456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6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452604" y="3565088"/>
            <a:ext cx="339328" cy="42422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6"/>
          <p:cNvSpPr/>
          <p:nvPr/>
        </p:nvSpPr>
        <p:spPr>
          <a:xfrm>
            <a:off x="9937790" y="531411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Nest Text</a:t>
            </a:r>
            <a:endParaRPr sz="2200" b="0" i="0" u="none" strike="noStrike" cap="none"/>
          </a:p>
        </p:txBody>
      </p:sp>
      <p:sp>
        <p:nvSpPr>
          <p:cNvPr id="152" name="Google Shape;152;p6"/>
          <p:cNvSpPr/>
          <p:nvPr/>
        </p:nvSpPr>
        <p:spPr>
          <a:xfrm>
            <a:off x="9937790" y="5804535"/>
            <a:ext cx="3898821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Place Text components inside one another for mixed styling.</a:t>
            </a:r>
            <a:endParaRPr sz="1750" b="0" i="0" u="none" strike="noStrike" cap="none"/>
          </a:p>
        </p:txBody>
      </p:sp>
      <p:pic>
        <p:nvPicPr>
          <p:cNvPr id="153" name="Google Shape;153;p6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032653" y="2413516"/>
            <a:ext cx="4564975" cy="456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6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064103" y="5790962"/>
            <a:ext cx="339328" cy="42422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6"/>
          <p:cNvSpPr/>
          <p:nvPr/>
        </p:nvSpPr>
        <p:spPr>
          <a:xfrm>
            <a:off x="1857256" y="531411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Handle Touch</a:t>
            </a:r>
            <a:endParaRPr sz="2200" b="0" i="0" u="none" strike="noStrike" cap="none"/>
          </a:p>
        </p:txBody>
      </p:sp>
      <p:sp>
        <p:nvSpPr>
          <p:cNvPr id="156" name="Google Shape;156;p6"/>
          <p:cNvSpPr/>
          <p:nvPr/>
        </p:nvSpPr>
        <p:spPr>
          <a:xfrm>
            <a:off x="793790" y="5804535"/>
            <a:ext cx="3898702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Respond to press events directly on text elements.</a:t>
            </a:r>
            <a:endParaRPr sz="1750" b="0" i="0" u="none" strike="noStrike" cap="none"/>
          </a:p>
        </p:txBody>
      </p:sp>
      <p:pic>
        <p:nvPicPr>
          <p:cNvPr id="157" name="Google Shape;157;p6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032653" y="2413516"/>
            <a:ext cx="4564975" cy="456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6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838230" y="5402461"/>
            <a:ext cx="339328" cy="424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6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3307735" y="228600"/>
            <a:ext cx="1094065" cy="426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"/>
          <p:cNvSpPr/>
          <p:nvPr/>
        </p:nvSpPr>
        <p:spPr>
          <a:xfrm>
            <a:off x="793790" y="823198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Inter"/>
              <a:buNone/>
            </a:pPr>
            <a:r>
              <a:rPr lang="en-US" sz="445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Text syntax</a:t>
            </a:r>
            <a:endParaRPr sz="4450" b="0" i="0" u="none" strike="noStrike" cap="none"/>
          </a:p>
        </p:txBody>
      </p:sp>
      <p:sp>
        <p:nvSpPr>
          <p:cNvPr id="166" name="Google Shape;166;p7"/>
          <p:cNvSpPr/>
          <p:nvPr/>
        </p:nvSpPr>
        <p:spPr>
          <a:xfrm>
            <a:off x="793790" y="1985605"/>
            <a:ext cx="13042821" cy="5420678"/>
          </a:xfrm>
          <a:prstGeom prst="roundRect">
            <a:avLst>
              <a:gd name="adj" fmla="val 1757"/>
            </a:avLst>
          </a:prstGeom>
          <a:solidFill>
            <a:srgbClr val="FBE1D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7"/>
          <p:cNvSpPr/>
          <p:nvPr/>
        </p:nvSpPr>
        <p:spPr>
          <a:xfrm>
            <a:off x="782479" y="1985605"/>
            <a:ext cx="13065443" cy="5420678"/>
          </a:xfrm>
          <a:prstGeom prst="roundRect">
            <a:avLst>
              <a:gd name="adj" fmla="val 628"/>
            </a:avLst>
          </a:prstGeom>
          <a:solidFill>
            <a:srgbClr val="FBE1D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7"/>
          <p:cNvSpPr/>
          <p:nvPr/>
        </p:nvSpPr>
        <p:spPr>
          <a:xfrm>
            <a:off x="1009293" y="2155627"/>
            <a:ext cx="12611814" cy="5080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Consolas"/>
              <a:buNone/>
            </a:pPr>
            <a:r>
              <a:rPr lang="en-US" sz="17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import React from 'react';</a:t>
            </a:r>
            <a:br>
              <a:rPr lang="en-US" sz="17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7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import { Text, View } from 'react-native';</a:t>
            </a:r>
            <a:br>
              <a:rPr lang="en-US" sz="17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17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7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const MyTextComponent = () =&gt; {</a:t>
            </a:r>
            <a:br>
              <a:rPr lang="en-US" sz="17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7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  return (</a:t>
            </a:r>
            <a:br>
              <a:rPr lang="en-US" sz="17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7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    &lt;View&gt; </a:t>
            </a:r>
            <a:br>
              <a:rPr lang="en-US" sz="17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7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      &lt;Text style={{ fontSize: 20 }}&gt;Hello, React Native!&lt;/Text&gt; </a:t>
            </a:r>
            <a:br>
              <a:rPr lang="en-US" sz="17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7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      &lt;Text style={{ color: 'blue' }}&gt;This is a basic text component.&lt;/Text&gt; </a:t>
            </a:r>
            <a:br>
              <a:rPr lang="en-US" sz="17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7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    &lt;/View&gt; </a:t>
            </a:r>
            <a:br>
              <a:rPr lang="en-US" sz="17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7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  );</a:t>
            </a:r>
            <a:br>
              <a:rPr lang="en-US" sz="17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7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};</a:t>
            </a:r>
            <a:br>
              <a:rPr lang="en-US" sz="17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17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7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export default MyTextComponent;</a:t>
            </a:r>
            <a:br>
              <a:rPr lang="en-US" sz="17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</a:br>
            <a:endParaRPr sz="1750" b="0" i="0" u="none" strike="noStrike" cap="none"/>
          </a:p>
        </p:txBody>
      </p:sp>
      <p:pic>
        <p:nvPicPr>
          <p:cNvPr id="169" name="Google Shape;169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307735" y="228600"/>
            <a:ext cx="1094065" cy="426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8"/>
          <p:cNvSpPr/>
          <p:nvPr/>
        </p:nvSpPr>
        <p:spPr>
          <a:xfrm>
            <a:off x="6280190" y="1549003"/>
            <a:ext cx="6280547" cy="708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Inter"/>
              <a:buNone/>
            </a:pPr>
            <a:r>
              <a:rPr lang="en-US" sz="445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The Image Component</a:t>
            </a:r>
            <a:endParaRPr sz="4450" b="0" i="0" u="none" strike="noStrike" cap="none"/>
          </a:p>
        </p:txBody>
      </p:sp>
      <p:pic>
        <p:nvPicPr>
          <p:cNvPr id="177" name="Google Shape;177;p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0190" y="2597944"/>
            <a:ext cx="1134070" cy="1360884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8"/>
          <p:cNvSpPr/>
          <p:nvPr/>
        </p:nvSpPr>
        <p:spPr>
          <a:xfrm>
            <a:off x="7754422" y="282475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Local Images</a:t>
            </a:r>
            <a:endParaRPr sz="2200" b="0" i="0" u="none" strike="noStrike" cap="none"/>
          </a:p>
        </p:txBody>
      </p:sp>
      <p:sp>
        <p:nvSpPr>
          <p:cNvPr id="179" name="Google Shape;179;p8"/>
          <p:cNvSpPr/>
          <p:nvPr/>
        </p:nvSpPr>
        <p:spPr>
          <a:xfrm>
            <a:off x="7754422" y="3315176"/>
            <a:ext cx="6082189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Import and display images bundled with your app.</a:t>
            </a:r>
            <a:endParaRPr sz="1750" b="0" i="0" u="none" strike="noStrike" cap="none"/>
          </a:p>
        </p:txBody>
      </p:sp>
      <p:pic>
        <p:nvPicPr>
          <p:cNvPr id="180" name="Google Shape;180;p8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0190" y="3958828"/>
            <a:ext cx="1134070" cy="1360884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8"/>
          <p:cNvSpPr/>
          <p:nvPr/>
        </p:nvSpPr>
        <p:spPr>
          <a:xfrm>
            <a:off x="7754422" y="418564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Remote Images</a:t>
            </a:r>
            <a:endParaRPr sz="2200" b="0" i="0" u="none" strike="noStrike" cap="none"/>
          </a:p>
        </p:txBody>
      </p:sp>
      <p:sp>
        <p:nvSpPr>
          <p:cNvPr id="182" name="Google Shape;182;p8"/>
          <p:cNvSpPr/>
          <p:nvPr/>
        </p:nvSpPr>
        <p:spPr>
          <a:xfrm>
            <a:off x="7754422" y="4676061"/>
            <a:ext cx="6082189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Load images from URLs and external sources.</a:t>
            </a:r>
            <a:endParaRPr sz="1750" b="0" i="0" u="none" strike="noStrike" cap="none"/>
          </a:p>
        </p:txBody>
      </p:sp>
      <p:pic>
        <p:nvPicPr>
          <p:cNvPr id="183" name="Google Shape;183;p8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0190" y="5319713"/>
            <a:ext cx="1134070" cy="1360884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8"/>
          <p:cNvSpPr/>
          <p:nvPr/>
        </p:nvSpPr>
        <p:spPr>
          <a:xfrm>
            <a:off x="7754422" y="554652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Style &amp; Resize</a:t>
            </a:r>
            <a:endParaRPr sz="2200" b="0" i="0" u="none" strike="noStrike" cap="none"/>
          </a:p>
        </p:txBody>
      </p:sp>
      <p:sp>
        <p:nvSpPr>
          <p:cNvPr id="185" name="Google Shape;185;p8"/>
          <p:cNvSpPr/>
          <p:nvPr/>
        </p:nvSpPr>
        <p:spPr>
          <a:xfrm>
            <a:off x="7754422" y="6036945"/>
            <a:ext cx="6082189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Control dimensions, borders, and other visual aspects.</a:t>
            </a:r>
            <a:endParaRPr sz="1750" b="0" i="0" u="none" strike="noStrike" cap="none"/>
          </a:p>
        </p:txBody>
      </p:sp>
      <p:pic>
        <p:nvPicPr>
          <p:cNvPr id="186" name="Google Shape;186;p8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3307735" y="228600"/>
            <a:ext cx="1094065" cy="426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"/>
          <p:cNvSpPr/>
          <p:nvPr/>
        </p:nvSpPr>
        <p:spPr>
          <a:xfrm>
            <a:off x="793790" y="823198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Inter"/>
              <a:buNone/>
            </a:pPr>
            <a:r>
              <a:rPr lang="en-US" sz="445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Image syntax</a:t>
            </a:r>
            <a:endParaRPr sz="4450" b="0" i="0" u="none" strike="noStrike" cap="none"/>
          </a:p>
        </p:txBody>
      </p:sp>
      <p:sp>
        <p:nvSpPr>
          <p:cNvPr id="193" name="Google Shape;193;p9"/>
          <p:cNvSpPr/>
          <p:nvPr/>
        </p:nvSpPr>
        <p:spPr>
          <a:xfrm>
            <a:off x="793790" y="1985605"/>
            <a:ext cx="13042821" cy="5420678"/>
          </a:xfrm>
          <a:prstGeom prst="roundRect">
            <a:avLst>
              <a:gd name="adj" fmla="val 1757"/>
            </a:avLst>
          </a:prstGeom>
          <a:solidFill>
            <a:srgbClr val="FBE1D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9"/>
          <p:cNvSpPr/>
          <p:nvPr/>
        </p:nvSpPr>
        <p:spPr>
          <a:xfrm>
            <a:off x="782479" y="1985605"/>
            <a:ext cx="13065443" cy="5420678"/>
          </a:xfrm>
          <a:prstGeom prst="roundRect">
            <a:avLst>
              <a:gd name="adj" fmla="val 628"/>
            </a:avLst>
          </a:prstGeom>
          <a:solidFill>
            <a:srgbClr val="FBE1D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9"/>
          <p:cNvSpPr/>
          <p:nvPr/>
        </p:nvSpPr>
        <p:spPr>
          <a:xfrm>
            <a:off x="1009293" y="2155627"/>
            <a:ext cx="12611814" cy="5080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Consolas"/>
              <a:buNone/>
            </a:pPr>
            <a:r>
              <a:rPr lang="en-US" sz="17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import React from 'react';</a:t>
            </a:r>
            <a:br>
              <a:rPr lang="en-US" sz="17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7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import { Image, View } from 'react-native';</a:t>
            </a:r>
            <a:br>
              <a:rPr lang="en-US" sz="17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17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7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const MyImageComponent = () =&gt; {</a:t>
            </a:r>
            <a:br>
              <a:rPr lang="en-US" sz="17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7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  return (</a:t>
            </a:r>
            <a:br>
              <a:rPr lang="en-US" sz="17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7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     &lt;View&gt; </a:t>
            </a:r>
            <a:br>
              <a:rPr lang="en-US" sz="17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7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      &lt;Image source={require('./localImage.png')} style={{ width: 200, height: 200 }} /&gt;</a:t>
            </a:r>
            <a:br>
              <a:rPr lang="en-US" sz="17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7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      &lt;Image source={{ uri: 'https://example.com/remoteImage.png' }} style={{ borderRadius: 10 }} /&gt;</a:t>
            </a:r>
            <a:br>
              <a:rPr lang="en-US" sz="17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7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    &lt;/View&gt; </a:t>
            </a:r>
            <a:br>
              <a:rPr lang="en-US" sz="17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7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  );</a:t>
            </a:r>
            <a:br>
              <a:rPr lang="en-US" sz="17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7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};</a:t>
            </a:r>
            <a:br>
              <a:rPr lang="en-US" sz="17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17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7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export default MyImageComponent;</a:t>
            </a:r>
            <a:br>
              <a:rPr lang="en-US" sz="17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</a:br>
            <a:endParaRPr sz="1750" b="0" i="0" u="none" strike="noStrike" cap="none"/>
          </a:p>
        </p:txBody>
      </p:sp>
      <p:pic>
        <p:nvPicPr>
          <p:cNvPr id="196" name="Google Shape;196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307735" y="228600"/>
            <a:ext cx="1094065" cy="426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"/>
          <p:cNvSpPr/>
          <p:nvPr/>
        </p:nvSpPr>
        <p:spPr>
          <a:xfrm>
            <a:off x="793790" y="1516499"/>
            <a:ext cx="6655356" cy="708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Inter"/>
              <a:buNone/>
            </a:pPr>
            <a:r>
              <a:rPr lang="en-US" sz="445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Interactive Components</a:t>
            </a:r>
            <a:endParaRPr sz="4450" b="0" i="0" u="none" strike="noStrike" cap="none"/>
          </a:p>
        </p:txBody>
      </p:sp>
      <p:pic>
        <p:nvPicPr>
          <p:cNvPr id="203" name="Google Shape;203;p1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78348" y="2678906"/>
            <a:ext cx="2152055" cy="1306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94892" y="3294936"/>
            <a:ext cx="318968" cy="398621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0"/>
          <p:cNvSpPr/>
          <p:nvPr/>
        </p:nvSpPr>
        <p:spPr>
          <a:xfrm>
            <a:off x="5357217" y="290572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User Interaction</a:t>
            </a:r>
            <a:endParaRPr sz="2200" b="0" i="0" u="none" strike="noStrike" cap="none"/>
          </a:p>
        </p:txBody>
      </p:sp>
      <p:sp>
        <p:nvSpPr>
          <p:cNvPr id="206" name="Google Shape;206;p10"/>
          <p:cNvSpPr/>
          <p:nvPr/>
        </p:nvSpPr>
        <p:spPr>
          <a:xfrm>
            <a:off x="5357217" y="3396139"/>
            <a:ext cx="4637723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Create responsive, interactive experiences.</a:t>
            </a:r>
            <a:endParaRPr sz="1750" b="0" i="0" u="none" strike="noStrike" cap="none"/>
          </a:p>
        </p:txBody>
      </p:sp>
      <p:sp>
        <p:nvSpPr>
          <p:cNvPr id="207" name="Google Shape;207;p10"/>
          <p:cNvSpPr/>
          <p:nvPr/>
        </p:nvSpPr>
        <p:spPr>
          <a:xfrm>
            <a:off x="5187077" y="3998952"/>
            <a:ext cx="8592860" cy="15240"/>
          </a:xfrm>
          <a:prstGeom prst="roundRect">
            <a:avLst>
              <a:gd name="adj" fmla="val 625116"/>
            </a:avLst>
          </a:prstGeom>
          <a:solidFill>
            <a:srgbClr val="E1C7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8" name="Google Shape;208;p10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02381" y="4042529"/>
            <a:ext cx="4304109" cy="1306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0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94892" y="4496633"/>
            <a:ext cx="318968" cy="398621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0"/>
          <p:cNvSpPr/>
          <p:nvPr/>
        </p:nvSpPr>
        <p:spPr>
          <a:xfrm>
            <a:off x="6433304" y="426934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Button Component</a:t>
            </a:r>
            <a:endParaRPr sz="2200" b="0" i="0" u="none" strike="noStrike" cap="none"/>
          </a:p>
        </p:txBody>
      </p:sp>
      <p:sp>
        <p:nvSpPr>
          <p:cNvPr id="211" name="Google Shape;211;p10"/>
          <p:cNvSpPr/>
          <p:nvPr/>
        </p:nvSpPr>
        <p:spPr>
          <a:xfrm>
            <a:off x="6433304" y="4759762"/>
            <a:ext cx="5273397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Simple clickable elements with onPress handlers.</a:t>
            </a:r>
            <a:endParaRPr sz="1750" b="0" i="0" u="none" strike="noStrike" cap="none"/>
          </a:p>
        </p:txBody>
      </p:sp>
      <p:sp>
        <p:nvSpPr>
          <p:cNvPr id="212" name="Google Shape;212;p10"/>
          <p:cNvSpPr/>
          <p:nvPr/>
        </p:nvSpPr>
        <p:spPr>
          <a:xfrm>
            <a:off x="6263164" y="5362575"/>
            <a:ext cx="7516773" cy="15240"/>
          </a:xfrm>
          <a:prstGeom prst="roundRect">
            <a:avLst>
              <a:gd name="adj" fmla="val 625116"/>
            </a:avLst>
          </a:prstGeom>
          <a:solidFill>
            <a:srgbClr val="E1C7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3" name="Google Shape;213;p10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26294" y="5406152"/>
            <a:ext cx="6456164" cy="1306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10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894773" y="5860256"/>
            <a:ext cx="318968" cy="398621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0"/>
          <p:cNvSpPr/>
          <p:nvPr/>
        </p:nvSpPr>
        <p:spPr>
          <a:xfrm>
            <a:off x="7509272" y="5632966"/>
            <a:ext cx="3004780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TextInput Component</a:t>
            </a:r>
            <a:endParaRPr sz="2200" b="0" i="0" u="none" strike="noStrike" cap="none"/>
          </a:p>
        </p:txBody>
      </p:sp>
      <p:sp>
        <p:nvSpPr>
          <p:cNvPr id="216" name="Google Shape;216;p10"/>
          <p:cNvSpPr/>
          <p:nvPr/>
        </p:nvSpPr>
        <p:spPr>
          <a:xfrm>
            <a:off x="7509272" y="6123384"/>
            <a:ext cx="4700826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Capture user input with customizable fields.</a:t>
            </a:r>
            <a:endParaRPr sz="1750" b="0" i="0" u="none" strike="noStrike" cap="none"/>
          </a:p>
        </p:txBody>
      </p:sp>
      <p:pic>
        <p:nvPicPr>
          <p:cNvPr id="217" name="Google Shape;217;p10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3307735" y="228600"/>
            <a:ext cx="1094065" cy="426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1"/>
          <p:cNvSpPr/>
          <p:nvPr/>
        </p:nvSpPr>
        <p:spPr>
          <a:xfrm>
            <a:off x="793790" y="641747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Inter"/>
              <a:buNone/>
            </a:pPr>
            <a:r>
              <a:rPr lang="en-US" sz="445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Button syntax</a:t>
            </a:r>
            <a:endParaRPr sz="4450" b="0" i="0" u="none" strike="noStrike" cap="none"/>
          </a:p>
        </p:txBody>
      </p:sp>
      <p:sp>
        <p:nvSpPr>
          <p:cNvPr id="224" name="Google Shape;224;p11"/>
          <p:cNvSpPr/>
          <p:nvPr/>
        </p:nvSpPr>
        <p:spPr>
          <a:xfrm>
            <a:off x="793790" y="1804154"/>
            <a:ext cx="13042821" cy="5783580"/>
          </a:xfrm>
          <a:prstGeom prst="roundRect">
            <a:avLst>
              <a:gd name="adj" fmla="val 1647"/>
            </a:avLst>
          </a:prstGeom>
          <a:solidFill>
            <a:srgbClr val="FBE1D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1"/>
          <p:cNvSpPr/>
          <p:nvPr/>
        </p:nvSpPr>
        <p:spPr>
          <a:xfrm>
            <a:off x="782479" y="1804154"/>
            <a:ext cx="13065443" cy="5783580"/>
          </a:xfrm>
          <a:prstGeom prst="roundRect">
            <a:avLst>
              <a:gd name="adj" fmla="val 588"/>
            </a:avLst>
          </a:prstGeom>
          <a:solidFill>
            <a:srgbClr val="FBE1D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1"/>
          <p:cNvSpPr/>
          <p:nvPr/>
        </p:nvSpPr>
        <p:spPr>
          <a:xfrm>
            <a:off x="1009293" y="1974175"/>
            <a:ext cx="12611814" cy="544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Consolas"/>
              <a:buNone/>
            </a:pPr>
            <a:r>
              <a:rPr lang="en-US" sz="17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import React from 'react'; </a:t>
            </a:r>
            <a:endParaRPr sz="1750" b="0" i="0" u="none" strike="noStrike" cap="none"/>
          </a:p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Consolas"/>
              <a:buNone/>
            </a:pPr>
            <a:r>
              <a:rPr lang="en-US" sz="17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import { Button, View } from 'react-native'; </a:t>
            </a:r>
            <a:endParaRPr sz="1750" b="0" i="0" u="none" strike="noStrike" cap="none"/>
          </a:p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Consolas"/>
              <a:buNone/>
            </a:pPr>
            <a:r>
              <a:rPr lang="en-US" sz="17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 </a:t>
            </a:r>
            <a:endParaRPr sz="1750" b="0" i="0" u="none" strike="noStrike" cap="none"/>
          </a:p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Consolas"/>
              <a:buNone/>
            </a:pPr>
            <a:r>
              <a:rPr lang="en-US" sz="17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const MyButtonComponent = () =&gt; { </a:t>
            </a:r>
            <a:endParaRPr sz="1750" b="0" i="0" u="none" strike="noStrike" cap="none"/>
          </a:p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Consolas"/>
              <a:buNone/>
            </a:pPr>
            <a:r>
              <a:rPr lang="en-US" sz="17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  return ( </a:t>
            </a:r>
            <a:endParaRPr sz="1750" b="0" i="0" u="none" strike="noStrike" cap="none"/>
          </a:p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Consolas"/>
              <a:buNone/>
            </a:pPr>
            <a:r>
              <a:rPr lang="en-US" sz="17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    &lt;View style={{ margin: 20 }}&gt; </a:t>
            </a:r>
            <a:endParaRPr sz="1750" b="0" i="0" u="none" strike="noStrike" cap="none"/>
          </a:p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Consolas"/>
              <a:buNone/>
            </a:pPr>
            <a:r>
              <a:rPr lang="en-US" sz="17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      &lt;Button </a:t>
            </a:r>
            <a:endParaRPr sz="1750" b="0" i="0" u="none" strike="noStrike" cap="none"/>
          </a:p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Consolas"/>
              <a:buNone/>
            </a:pPr>
            <a:r>
              <a:rPr lang="en-US" sz="17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        title="Press Me" </a:t>
            </a:r>
            <a:endParaRPr sz="1750" b="0" i="0" u="none" strike="noStrike" cap="none"/>
          </a:p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Consolas"/>
              <a:buNone/>
            </a:pPr>
            <a:r>
              <a:rPr lang="en-US" sz="17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        onPress={() =&gt; alert('Button Pressed!')} </a:t>
            </a:r>
            <a:endParaRPr sz="1750" b="0" i="0" u="none" strike="noStrike" cap="none"/>
          </a:p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Consolas"/>
              <a:buNone/>
            </a:pPr>
            <a:r>
              <a:rPr lang="en-US" sz="17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      /&gt; </a:t>
            </a:r>
            <a:endParaRPr sz="1750" b="0" i="0" u="none" strike="noStrike" cap="none"/>
          </a:p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Consolas"/>
              <a:buNone/>
            </a:pPr>
            <a:r>
              <a:rPr lang="en-US" sz="17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    &lt;/View&gt; </a:t>
            </a:r>
            <a:endParaRPr sz="1750" b="0" i="0" u="none" strike="noStrike" cap="none"/>
          </a:p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Consolas"/>
              <a:buNone/>
            </a:pPr>
            <a:r>
              <a:rPr lang="en-US" sz="17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  ); </a:t>
            </a:r>
            <a:endParaRPr sz="1750" b="0" i="0" u="none" strike="noStrike" cap="none"/>
          </a:p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Consolas"/>
              <a:buNone/>
            </a:pPr>
            <a:r>
              <a:rPr lang="en-US" sz="17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}; </a:t>
            </a:r>
            <a:endParaRPr sz="1750" b="0" i="0" u="none" strike="noStrike" cap="none"/>
          </a:p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Consolas"/>
              <a:buNone/>
            </a:pPr>
            <a:r>
              <a:rPr lang="en-US" sz="17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 </a:t>
            </a:r>
            <a:endParaRPr sz="1750" b="0" i="0" u="none" strike="noStrike" cap="none"/>
          </a:p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Consolas"/>
              <a:buNone/>
            </a:pPr>
            <a:r>
              <a:rPr lang="en-US" sz="17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export default MyButtonComponent;</a:t>
            </a:r>
            <a:endParaRPr sz="1750" b="0" i="0" u="none" strike="noStrike" cap="none"/>
          </a:p>
        </p:txBody>
      </p:sp>
      <p:pic>
        <p:nvPicPr>
          <p:cNvPr id="227" name="Google Shape;227;p1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307735" y="228600"/>
            <a:ext cx="1094065" cy="426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2"/>
          <p:cNvSpPr/>
          <p:nvPr/>
        </p:nvSpPr>
        <p:spPr>
          <a:xfrm>
            <a:off x="793790" y="679728"/>
            <a:ext cx="3685937" cy="460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Inter"/>
              <a:buNone/>
            </a:pPr>
            <a:r>
              <a:rPr lang="en-US" sz="29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TextInput syntax</a:t>
            </a:r>
            <a:endParaRPr sz="2900" b="0" i="0" u="none" strike="noStrike" cap="none"/>
          </a:p>
        </p:txBody>
      </p:sp>
      <p:sp>
        <p:nvSpPr>
          <p:cNvPr id="234" name="Google Shape;234;p12"/>
          <p:cNvSpPr/>
          <p:nvPr/>
        </p:nvSpPr>
        <p:spPr>
          <a:xfrm>
            <a:off x="793790" y="1435298"/>
            <a:ext cx="13042821" cy="6114574"/>
          </a:xfrm>
          <a:prstGeom prst="roundRect">
            <a:avLst>
              <a:gd name="adj" fmla="val 1013"/>
            </a:avLst>
          </a:prstGeom>
          <a:solidFill>
            <a:srgbClr val="FBE1D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2"/>
          <p:cNvSpPr/>
          <p:nvPr/>
        </p:nvSpPr>
        <p:spPr>
          <a:xfrm>
            <a:off x="786527" y="1435298"/>
            <a:ext cx="13057346" cy="6114574"/>
          </a:xfrm>
          <a:prstGeom prst="roundRect">
            <a:avLst>
              <a:gd name="adj" fmla="val 362"/>
            </a:avLst>
          </a:prstGeom>
          <a:solidFill>
            <a:srgbClr val="FBE1D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2"/>
          <p:cNvSpPr/>
          <p:nvPr/>
        </p:nvSpPr>
        <p:spPr>
          <a:xfrm>
            <a:off x="933926" y="1545788"/>
            <a:ext cx="12762548" cy="5893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Consolas"/>
              <a:buNone/>
            </a:pPr>
            <a:r>
              <a:rPr lang="en-US" sz="11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import React, { useState } from 'react'; </a:t>
            </a:r>
            <a:endParaRPr sz="1150" b="0" i="0" u="none" strike="noStrike" cap="none"/>
          </a:p>
          <a:p>
            <a:pPr marL="0" marR="0" lvl="0" indent="0" algn="l" rtl="0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Consolas"/>
              <a:buNone/>
            </a:pPr>
            <a:r>
              <a:rPr lang="en-US" sz="11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import { TextInput, View, StyleSheet, Text } from 'react-native'; </a:t>
            </a:r>
            <a:endParaRPr sz="1150" b="0" i="0" u="none" strike="noStrike" cap="none"/>
          </a:p>
          <a:p>
            <a:pPr marL="0" marR="0" lvl="0" indent="0" algn="l" rtl="0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SzPts val="1150"/>
              <a:buFont typeface="Arial"/>
              <a:buNone/>
            </a:pPr>
            <a:endParaRPr sz="1150" b="0" i="0" u="none" strike="noStrike" cap="none"/>
          </a:p>
          <a:p>
            <a:pPr marL="0" marR="0" lvl="0" indent="0" algn="l" rtl="0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Consolas"/>
              <a:buNone/>
            </a:pPr>
            <a:r>
              <a:rPr lang="en-US" sz="11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const MyTextInputComponent = () =&gt; { </a:t>
            </a:r>
            <a:endParaRPr sz="1150" b="0" i="0" u="none" strike="noStrike" cap="none"/>
          </a:p>
          <a:p>
            <a:pPr marL="0" marR="0" lvl="0" indent="0" algn="l" rtl="0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Consolas"/>
              <a:buNone/>
            </a:pPr>
            <a:r>
              <a:rPr lang="en-US" sz="11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  const [text, setText] = useState(''); </a:t>
            </a:r>
            <a:endParaRPr sz="1150" b="0" i="0" u="none" strike="noStrike" cap="none"/>
          </a:p>
          <a:p>
            <a:pPr marL="0" marR="0" lvl="0" indent="0" algn="l" rtl="0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Consolas"/>
              <a:buNone/>
            </a:pPr>
            <a:r>
              <a:rPr lang="en-US" sz="11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  return ( </a:t>
            </a:r>
            <a:endParaRPr sz="1150" b="0" i="0" u="none" strike="noStrike" cap="none"/>
          </a:p>
          <a:p>
            <a:pPr marL="0" marR="0" lvl="0" indent="0" algn="l" rtl="0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Consolas"/>
              <a:buNone/>
            </a:pPr>
            <a:r>
              <a:rPr lang="en-US" sz="11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    &lt;View style={styles.container}&gt; </a:t>
            </a:r>
            <a:endParaRPr sz="1150" b="0" i="0" u="none" strike="noStrike" cap="none"/>
          </a:p>
          <a:p>
            <a:pPr marL="0" marR="0" lvl="0" indent="0" algn="l" rtl="0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Consolas"/>
              <a:buNone/>
            </a:pPr>
            <a:r>
              <a:rPr lang="en-US" sz="11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      &lt;TextInput style={styles.input} placeholder="Enter some text" onChangeText={setText} value={text} /&gt; </a:t>
            </a:r>
            <a:endParaRPr sz="1150" b="0" i="0" u="none" strike="noStrike" cap="none"/>
          </a:p>
          <a:p>
            <a:pPr marL="0" marR="0" lvl="0" indent="0" algn="l" rtl="0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Consolas"/>
              <a:buNone/>
            </a:pPr>
            <a:r>
              <a:rPr lang="en-US" sz="11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      &lt;Text&gt;You typed: {text}&lt;/Text&gt; </a:t>
            </a:r>
            <a:endParaRPr sz="1150" b="0" i="0" u="none" strike="noStrike" cap="none"/>
          </a:p>
          <a:p>
            <a:pPr marL="0" marR="0" lvl="0" indent="0" algn="l" rtl="0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Consolas"/>
              <a:buNone/>
            </a:pPr>
            <a:r>
              <a:rPr lang="en-US" sz="11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    &lt;/View&gt; </a:t>
            </a:r>
            <a:endParaRPr sz="1150" b="0" i="0" u="none" strike="noStrike" cap="none"/>
          </a:p>
          <a:p>
            <a:pPr marL="0" marR="0" lvl="0" indent="0" algn="l" rtl="0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Consolas"/>
              <a:buNone/>
            </a:pPr>
            <a:r>
              <a:rPr lang="en-US" sz="11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  ); </a:t>
            </a:r>
            <a:endParaRPr sz="1150" b="0" i="0" u="none" strike="noStrike" cap="none"/>
          </a:p>
          <a:p>
            <a:pPr marL="0" marR="0" lvl="0" indent="0" algn="l" rtl="0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Consolas"/>
              <a:buNone/>
            </a:pPr>
            <a:r>
              <a:rPr lang="en-US" sz="11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}; </a:t>
            </a:r>
            <a:endParaRPr sz="1150" b="0" i="0" u="none" strike="noStrike" cap="none"/>
          </a:p>
          <a:p>
            <a:pPr marL="0" marR="0" lvl="0" indent="0" algn="l" rtl="0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Consolas"/>
              <a:buNone/>
            </a:pPr>
            <a:r>
              <a:rPr lang="en-US" sz="11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const styles = StyleSheet.create({ </a:t>
            </a:r>
            <a:endParaRPr sz="1150" b="0" i="0" u="none" strike="noStrike" cap="none"/>
          </a:p>
          <a:p>
            <a:pPr marL="0" marR="0" lvl="0" indent="0" algn="l" rtl="0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Consolas"/>
              <a:buNone/>
            </a:pPr>
            <a:r>
              <a:rPr lang="en-US" sz="11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  container: { </a:t>
            </a:r>
            <a:endParaRPr sz="1150" b="0" i="0" u="none" strike="noStrike" cap="none"/>
          </a:p>
          <a:p>
            <a:pPr marL="0" marR="0" lvl="0" indent="0" algn="l" rtl="0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Consolas"/>
              <a:buNone/>
            </a:pPr>
            <a:r>
              <a:rPr lang="en-US" sz="11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    padding: 20, </a:t>
            </a:r>
            <a:endParaRPr sz="1150" b="0" i="0" u="none" strike="noStrike" cap="none"/>
          </a:p>
          <a:p>
            <a:pPr marL="0" marR="0" lvl="0" indent="0" algn="l" rtl="0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Consolas"/>
              <a:buNone/>
            </a:pPr>
            <a:r>
              <a:rPr lang="en-US" sz="11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  }, </a:t>
            </a:r>
            <a:endParaRPr sz="1150" b="0" i="0" u="none" strike="noStrike" cap="none"/>
          </a:p>
          <a:p>
            <a:pPr marL="0" marR="0" lvl="0" indent="0" algn="l" rtl="0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Consolas"/>
              <a:buNone/>
            </a:pPr>
            <a:r>
              <a:rPr lang="en-US" sz="11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  input: { </a:t>
            </a:r>
            <a:endParaRPr sz="1150" b="0" i="0" u="none" strike="noStrike" cap="none"/>
          </a:p>
          <a:p>
            <a:pPr marL="0" marR="0" lvl="0" indent="0" algn="l" rtl="0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Consolas"/>
              <a:buNone/>
            </a:pPr>
            <a:r>
              <a:rPr lang="en-US" sz="11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    height: 40, </a:t>
            </a:r>
            <a:endParaRPr sz="1150" b="0" i="0" u="none" strike="noStrike" cap="none"/>
          </a:p>
          <a:p>
            <a:pPr marL="0" marR="0" lvl="0" indent="0" algn="l" rtl="0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Consolas"/>
              <a:buNone/>
            </a:pPr>
            <a:r>
              <a:rPr lang="en-US" sz="11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    borderColor: 'gray', </a:t>
            </a:r>
            <a:endParaRPr sz="1150" b="0" i="0" u="none" strike="noStrike" cap="none"/>
          </a:p>
          <a:p>
            <a:pPr marL="0" marR="0" lvl="0" indent="0" algn="l" rtl="0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Consolas"/>
              <a:buNone/>
            </a:pPr>
            <a:r>
              <a:rPr lang="en-US" sz="11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    borderWidth: 1, </a:t>
            </a:r>
            <a:endParaRPr sz="1150" b="0" i="0" u="none" strike="noStrike" cap="none"/>
          </a:p>
          <a:p>
            <a:pPr marL="0" marR="0" lvl="0" indent="0" algn="l" rtl="0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Consolas"/>
              <a:buNone/>
            </a:pPr>
            <a:r>
              <a:rPr lang="en-US" sz="11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    marginBottom: 12, </a:t>
            </a:r>
            <a:endParaRPr sz="1150" b="0" i="0" u="none" strike="noStrike" cap="none"/>
          </a:p>
          <a:p>
            <a:pPr marL="0" marR="0" lvl="0" indent="0" algn="l" rtl="0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Consolas"/>
              <a:buNone/>
            </a:pPr>
            <a:r>
              <a:rPr lang="en-US" sz="11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    padding: 10, </a:t>
            </a:r>
            <a:endParaRPr sz="1150" b="0" i="0" u="none" strike="noStrike" cap="none"/>
          </a:p>
          <a:p>
            <a:pPr marL="0" marR="0" lvl="0" indent="0" algn="l" rtl="0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Consolas"/>
              <a:buNone/>
            </a:pPr>
            <a:r>
              <a:rPr lang="en-US" sz="11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  }, </a:t>
            </a:r>
            <a:endParaRPr sz="1150" b="0" i="0" u="none" strike="noStrike" cap="none"/>
          </a:p>
          <a:p>
            <a:pPr marL="0" marR="0" lvl="0" indent="0" algn="l" rtl="0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Consolas"/>
              <a:buNone/>
            </a:pPr>
            <a:r>
              <a:rPr lang="en-US" sz="11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}); </a:t>
            </a:r>
            <a:endParaRPr sz="1150" b="0" i="0" u="none" strike="noStrike" cap="none"/>
          </a:p>
          <a:p>
            <a:pPr marL="0" marR="0" lvl="0" indent="0" algn="l" rtl="0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Consolas"/>
              <a:buNone/>
            </a:pPr>
            <a:r>
              <a:rPr lang="en-US" sz="11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export default MyTextInputComponent; </a:t>
            </a:r>
            <a:endParaRPr sz="1150" b="0" i="0" u="none" strike="noStrike" cap="none"/>
          </a:p>
        </p:txBody>
      </p:sp>
      <p:pic>
        <p:nvPicPr>
          <p:cNvPr id="237" name="Google Shape;237;p1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307735" y="228600"/>
            <a:ext cx="1094065" cy="426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1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3"/>
          <p:cNvSpPr/>
          <p:nvPr/>
        </p:nvSpPr>
        <p:spPr>
          <a:xfrm>
            <a:off x="6280190" y="1607225"/>
            <a:ext cx="6341150" cy="708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Inter"/>
              <a:buNone/>
            </a:pPr>
            <a:r>
              <a:rPr lang="en-US" sz="445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ScrollView Component</a:t>
            </a:r>
            <a:endParaRPr sz="4450" b="0" i="0" u="none" strike="noStrike" cap="none"/>
          </a:p>
        </p:txBody>
      </p:sp>
      <p:sp>
        <p:nvSpPr>
          <p:cNvPr id="245" name="Google Shape;245;p13"/>
          <p:cNvSpPr/>
          <p:nvPr/>
        </p:nvSpPr>
        <p:spPr>
          <a:xfrm>
            <a:off x="6280190" y="2656165"/>
            <a:ext cx="170021" cy="1216223"/>
          </a:xfrm>
          <a:prstGeom prst="roundRect">
            <a:avLst>
              <a:gd name="adj" fmla="val 56033"/>
            </a:avLst>
          </a:prstGeom>
          <a:solidFill>
            <a:srgbClr val="FBE1D0"/>
          </a:solidFill>
          <a:ln w="9525" cap="flat" cmpd="sng">
            <a:solidFill>
              <a:srgbClr val="E1C7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3"/>
          <p:cNvSpPr/>
          <p:nvPr/>
        </p:nvSpPr>
        <p:spPr>
          <a:xfrm>
            <a:off x="6790373" y="265616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Purpose</a:t>
            </a:r>
            <a:endParaRPr sz="2200" b="0" i="0" u="none" strike="noStrike" cap="none"/>
          </a:p>
        </p:txBody>
      </p:sp>
      <p:sp>
        <p:nvSpPr>
          <p:cNvPr id="247" name="Google Shape;247;p13"/>
          <p:cNvSpPr/>
          <p:nvPr/>
        </p:nvSpPr>
        <p:spPr>
          <a:xfrm>
            <a:off x="6790373" y="3146584"/>
            <a:ext cx="7046238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Contains components larger than the viewport, enabling users to scroll through content.</a:t>
            </a:r>
            <a:endParaRPr sz="1750" b="0" i="0" u="none" strike="noStrike" cap="none"/>
          </a:p>
        </p:txBody>
      </p:sp>
      <p:sp>
        <p:nvSpPr>
          <p:cNvPr id="248" name="Google Shape;248;p13"/>
          <p:cNvSpPr/>
          <p:nvPr/>
        </p:nvSpPr>
        <p:spPr>
          <a:xfrm>
            <a:off x="6620351" y="4099203"/>
            <a:ext cx="170021" cy="853321"/>
          </a:xfrm>
          <a:prstGeom prst="roundRect">
            <a:avLst>
              <a:gd name="adj" fmla="val 56033"/>
            </a:avLst>
          </a:prstGeom>
          <a:solidFill>
            <a:srgbClr val="FBE1D0"/>
          </a:solidFill>
          <a:ln w="9525" cap="flat" cmpd="sng">
            <a:solidFill>
              <a:srgbClr val="E1C7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3"/>
          <p:cNvSpPr/>
          <p:nvPr/>
        </p:nvSpPr>
        <p:spPr>
          <a:xfrm>
            <a:off x="7130534" y="409920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Implementation</a:t>
            </a:r>
            <a:endParaRPr sz="2200" b="0" i="0" u="none" strike="noStrike" cap="none"/>
          </a:p>
        </p:txBody>
      </p:sp>
      <p:sp>
        <p:nvSpPr>
          <p:cNvPr id="250" name="Google Shape;250;p13"/>
          <p:cNvSpPr/>
          <p:nvPr/>
        </p:nvSpPr>
        <p:spPr>
          <a:xfrm>
            <a:off x="7130534" y="4589621"/>
            <a:ext cx="6706076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Wrap content in ScrollView tags and apply styling as needed.</a:t>
            </a:r>
            <a:endParaRPr sz="1750" b="0" i="0" u="none" strike="noStrike" cap="none"/>
          </a:p>
        </p:txBody>
      </p:sp>
      <p:sp>
        <p:nvSpPr>
          <p:cNvPr id="251" name="Google Shape;251;p13"/>
          <p:cNvSpPr/>
          <p:nvPr/>
        </p:nvSpPr>
        <p:spPr>
          <a:xfrm>
            <a:off x="6960632" y="5179338"/>
            <a:ext cx="170021" cy="1216223"/>
          </a:xfrm>
          <a:prstGeom prst="roundRect">
            <a:avLst>
              <a:gd name="adj" fmla="val 56033"/>
            </a:avLst>
          </a:prstGeom>
          <a:solidFill>
            <a:srgbClr val="FBE1D0"/>
          </a:solidFill>
          <a:ln w="9525" cap="flat" cmpd="sng">
            <a:solidFill>
              <a:srgbClr val="E1C7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3"/>
          <p:cNvSpPr/>
          <p:nvPr/>
        </p:nvSpPr>
        <p:spPr>
          <a:xfrm>
            <a:off x="7470815" y="517933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Best Practices</a:t>
            </a:r>
            <a:endParaRPr sz="2200" b="0" i="0" u="none" strike="noStrike" cap="none"/>
          </a:p>
        </p:txBody>
      </p:sp>
      <p:sp>
        <p:nvSpPr>
          <p:cNvPr id="253" name="Google Shape;253;p13"/>
          <p:cNvSpPr/>
          <p:nvPr/>
        </p:nvSpPr>
        <p:spPr>
          <a:xfrm>
            <a:off x="7470815" y="5669756"/>
            <a:ext cx="6365796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Use for limited content. For long lists, consider FlatList for better performance.</a:t>
            </a:r>
            <a:endParaRPr sz="1750" b="0" i="0" u="none" strike="noStrike" cap="none"/>
          </a:p>
        </p:txBody>
      </p:sp>
      <p:pic>
        <p:nvPicPr>
          <p:cNvPr id="254" name="Google Shape;254;p1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307735" y="228600"/>
            <a:ext cx="1094065" cy="426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4"/>
          <p:cNvSpPr/>
          <p:nvPr/>
        </p:nvSpPr>
        <p:spPr>
          <a:xfrm>
            <a:off x="746165" y="586264"/>
            <a:ext cx="3464600" cy="433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Inter"/>
              <a:buNone/>
            </a:pPr>
            <a:r>
              <a:rPr lang="en-US" sz="27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ScrollView syntax</a:t>
            </a:r>
            <a:endParaRPr sz="2700" b="0" i="0" u="none" strike="noStrike" cap="none"/>
          </a:p>
        </p:txBody>
      </p:sp>
      <p:sp>
        <p:nvSpPr>
          <p:cNvPr id="261" name="Google Shape;261;p14"/>
          <p:cNvSpPr/>
          <p:nvPr/>
        </p:nvSpPr>
        <p:spPr>
          <a:xfrm>
            <a:off x="746165" y="1296353"/>
            <a:ext cx="13138071" cy="5971699"/>
          </a:xfrm>
          <a:prstGeom prst="roundRect">
            <a:avLst>
              <a:gd name="adj" fmla="val 975"/>
            </a:avLst>
          </a:prstGeom>
          <a:solidFill>
            <a:srgbClr val="FBE1D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4"/>
          <p:cNvSpPr/>
          <p:nvPr/>
        </p:nvSpPr>
        <p:spPr>
          <a:xfrm>
            <a:off x="739259" y="1296353"/>
            <a:ext cx="13151882" cy="5971699"/>
          </a:xfrm>
          <a:prstGeom prst="roundRect">
            <a:avLst>
              <a:gd name="adj" fmla="val 348"/>
            </a:avLst>
          </a:prstGeom>
          <a:solidFill>
            <a:srgbClr val="FBE1D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14"/>
          <p:cNvSpPr/>
          <p:nvPr/>
        </p:nvSpPr>
        <p:spPr>
          <a:xfrm>
            <a:off x="877729" y="1400175"/>
            <a:ext cx="12874943" cy="5764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import React from 'react'; </a:t>
            </a:r>
            <a:endParaRPr sz="1050" b="0" i="0" u="none" strike="noStrike" cap="none"/>
          </a:p>
          <a:p>
            <a:pPr marL="0" marR="0" lvl="0" indent="0" algn="l" rtl="0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import { ScrollView, Text, StyleSheet } from 'react-native'; </a:t>
            </a:r>
            <a:endParaRPr sz="1050" b="0" i="0" u="none" strike="noStrike" cap="none"/>
          </a:p>
          <a:p>
            <a:pPr marL="0" marR="0" lvl="0" indent="0" algn="l" rtl="0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SzPts val="1050"/>
              <a:buFont typeface="Arial"/>
              <a:buNone/>
            </a:pPr>
            <a:endParaRPr sz="1050" b="0" i="0" u="none" strike="noStrike" cap="none"/>
          </a:p>
          <a:p>
            <a:pPr marL="0" marR="0" lvl="0" indent="0" algn="l" rtl="0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const MyScrollViewComponent = () =&gt; { </a:t>
            </a:r>
            <a:endParaRPr sz="1050" b="0" i="0" u="none" strike="noStrike" cap="none"/>
          </a:p>
          <a:p>
            <a:pPr marL="0" marR="0" lvl="0" indent="0" algn="l" rtl="0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  return ( </a:t>
            </a:r>
            <a:endParaRPr sz="1050" b="0" i="0" u="none" strike="noStrike" cap="none"/>
          </a:p>
          <a:p>
            <a:pPr marL="0" marR="0" lvl="0" indent="0" algn="l" rtl="0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    &lt;ScrollView style={styles.scrollView}&gt; </a:t>
            </a:r>
            <a:endParaRPr sz="1050" b="0" i="0" u="none" strike="noStrike" cap="none"/>
          </a:p>
          <a:p>
            <a:pPr marL="0" marR="0" lvl="0" indent="0" algn="l" rtl="0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      &lt;Text style={styles.text}&gt;Item 1&lt;/Text&gt; </a:t>
            </a:r>
            <a:endParaRPr sz="1050" b="0" i="0" u="none" strike="noStrike" cap="none"/>
          </a:p>
          <a:p>
            <a:pPr marL="0" marR="0" lvl="0" indent="0" algn="l" rtl="0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      &lt;Text style={styles.text}&gt;Item 2&lt;/Text&gt; </a:t>
            </a:r>
            <a:endParaRPr sz="1050" b="0" i="0" u="none" strike="noStrike" cap="none"/>
          </a:p>
          <a:p>
            <a:pPr marL="0" marR="0" lvl="0" indent="0" algn="l" rtl="0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      &lt;Text style={styles.text}&gt;Item 3&lt;/Text&gt; </a:t>
            </a:r>
            <a:endParaRPr sz="1050" b="0" i="0" u="none" strike="noStrike" cap="none"/>
          </a:p>
          <a:p>
            <a:pPr marL="0" marR="0" lvl="0" indent="0" algn="l" rtl="0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      &lt;Text style={styles.text}&gt;Item 4&lt;/Text&gt; </a:t>
            </a:r>
            <a:endParaRPr sz="1050" b="0" i="0" u="none" strike="noStrike" cap="none"/>
          </a:p>
          <a:p>
            <a:pPr marL="0" marR="0" lvl="0" indent="0" algn="l" rtl="0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      {/* More items can be added here */} </a:t>
            </a:r>
            <a:endParaRPr sz="1050" b="0" i="0" u="none" strike="noStrike" cap="none"/>
          </a:p>
          <a:p>
            <a:pPr marL="0" marR="0" lvl="0" indent="0" algn="l" rtl="0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    &lt;/ScrollView&gt; </a:t>
            </a:r>
            <a:endParaRPr sz="1050" b="0" i="0" u="none" strike="noStrike" cap="none"/>
          </a:p>
          <a:p>
            <a:pPr marL="0" marR="0" lvl="0" indent="0" algn="l" rtl="0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  ); </a:t>
            </a:r>
            <a:endParaRPr sz="1050" b="0" i="0" u="none" strike="noStrike" cap="none"/>
          </a:p>
          <a:p>
            <a:pPr marL="0" marR="0" lvl="0" indent="0" algn="l" rtl="0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}; </a:t>
            </a:r>
            <a:endParaRPr sz="1050" b="0" i="0" u="none" strike="noStrike" cap="none"/>
          </a:p>
          <a:p>
            <a:pPr marL="0" marR="0" lvl="0" indent="0" algn="l" rtl="0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 </a:t>
            </a:r>
            <a:endParaRPr sz="1050" b="0" i="0" u="none" strike="noStrike" cap="none"/>
          </a:p>
          <a:p>
            <a:pPr marL="0" marR="0" lvl="0" indent="0" algn="l" rtl="0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const styles = StyleSheet.create({ </a:t>
            </a:r>
            <a:endParaRPr sz="1050" b="0" i="0" u="none" strike="noStrike" cap="none"/>
          </a:p>
          <a:p>
            <a:pPr marL="0" marR="0" lvl="0" indent="0" algn="l" rtl="0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  scrollView: { </a:t>
            </a:r>
            <a:endParaRPr sz="1050" b="0" i="0" u="none" strike="noStrike" cap="none"/>
          </a:p>
          <a:p>
            <a:pPr marL="0" marR="0" lvl="0" indent="0" algn="l" rtl="0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    marginHorizontal: 20, </a:t>
            </a:r>
            <a:endParaRPr sz="1050" b="0" i="0" u="none" strike="noStrike" cap="none"/>
          </a:p>
          <a:p>
            <a:pPr marL="0" marR="0" lvl="0" indent="0" algn="l" rtl="0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  }, </a:t>
            </a:r>
            <a:endParaRPr sz="1050" b="0" i="0" u="none" strike="noStrike" cap="none"/>
          </a:p>
          <a:p>
            <a:pPr marL="0" marR="0" lvl="0" indent="0" algn="l" rtl="0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  text: { </a:t>
            </a:r>
            <a:endParaRPr sz="1050" b="0" i="0" u="none" strike="noStrike" cap="none"/>
          </a:p>
          <a:p>
            <a:pPr marL="0" marR="0" lvl="0" indent="0" algn="l" rtl="0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    fontSize: 20, </a:t>
            </a:r>
            <a:endParaRPr sz="1050" b="0" i="0" u="none" strike="noStrike" cap="none"/>
          </a:p>
          <a:p>
            <a:pPr marL="0" marR="0" lvl="0" indent="0" algn="l" rtl="0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    marginVertical: 10, </a:t>
            </a:r>
            <a:endParaRPr sz="1050" b="0" i="0" u="none" strike="noStrike" cap="none"/>
          </a:p>
          <a:p>
            <a:pPr marL="0" marR="0" lvl="0" indent="0" algn="l" rtl="0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  }, </a:t>
            </a:r>
            <a:endParaRPr sz="1050" b="0" i="0" u="none" strike="noStrike" cap="none"/>
          </a:p>
          <a:p>
            <a:pPr marL="0" marR="0" lvl="0" indent="0" algn="l" rtl="0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}); </a:t>
            </a:r>
            <a:endParaRPr sz="1050" b="0" i="0" u="none" strike="noStrike" cap="none"/>
          </a:p>
          <a:p>
            <a:pPr marL="0" marR="0" lvl="0" indent="0" algn="l" rtl="0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SzPts val="1050"/>
              <a:buFont typeface="Arial"/>
              <a:buNone/>
            </a:pPr>
            <a:endParaRPr sz="1050" b="0" i="0" u="none" strike="noStrike" cap="none"/>
          </a:p>
          <a:p>
            <a:pPr marL="0" marR="0" lvl="0" indent="0" algn="l" rtl="0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export default MyScrollViewComponent;</a:t>
            </a:r>
            <a:endParaRPr sz="1050" b="0" i="0" u="none" strike="noStrike" cap="none"/>
          </a:p>
        </p:txBody>
      </p:sp>
      <p:sp>
        <p:nvSpPr>
          <p:cNvPr id="264" name="Google Shape;264;p14"/>
          <p:cNvSpPr/>
          <p:nvPr/>
        </p:nvSpPr>
        <p:spPr>
          <a:xfrm>
            <a:off x="746165" y="7423904"/>
            <a:ext cx="13138071" cy="221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SzPts val="1050"/>
              <a:buFont typeface="Arial"/>
              <a:buNone/>
            </a:pPr>
            <a:endParaRPr sz="1050" b="0" i="0" u="none" strike="noStrike" cap="none"/>
          </a:p>
        </p:txBody>
      </p:sp>
      <p:pic>
        <p:nvPicPr>
          <p:cNvPr id="265" name="Google Shape;265;p1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307735" y="228600"/>
            <a:ext cx="1094065" cy="426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5"/>
          <p:cNvSpPr/>
          <p:nvPr/>
        </p:nvSpPr>
        <p:spPr>
          <a:xfrm>
            <a:off x="793790" y="1459825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Inter"/>
              <a:buNone/>
            </a:pPr>
            <a:r>
              <a:rPr lang="en-US" sz="445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FlatList Component</a:t>
            </a:r>
            <a:endParaRPr sz="4450" b="0" i="0" u="none" strike="noStrike" cap="none"/>
          </a:p>
        </p:txBody>
      </p:sp>
      <p:sp>
        <p:nvSpPr>
          <p:cNvPr id="272" name="Google Shape;272;p15"/>
          <p:cNvSpPr/>
          <p:nvPr/>
        </p:nvSpPr>
        <p:spPr>
          <a:xfrm>
            <a:off x="793790" y="2622233"/>
            <a:ext cx="2173724" cy="1306949"/>
          </a:xfrm>
          <a:prstGeom prst="roundRect">
            <a:avLst>
              <a:gd name="adj" fmla="val 7289"/>
            </a:avLst>
          </a:prstGeom>
          <a:solidFill>
            <a:srgbClr val="FBE1D0"/>
          </a:solidFill>
          <a:ln w="9525" cap="flat" cmpd="sng">
            <a:solidFill>
              <a:srgbClr val="E1C7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73" name="Google Shape;273;p1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21167" y="3076337"/>
            <a:ext cx="318968" cy="398621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15"/>
          <p:cNvSpPr/>
          <p:nvPr/>
        </p:nvSpPr>
        <p:spPr>
          <a:xfrm>
            <a:off x="3194328" y="2849047"/>
            <a:ext cx="3288149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Performance Optimized</a:t>
            </a:r>
            <a:endParaRPr sz="2200" b="0" i="0" u="none" strike="noStrike" cap="none"/>
          </a:p>
        </p:txBody>
      </p:sp>
      <p:sp>
        <p:nvSpPr>
          <p:cNvPr id="275" name="Google Shape;275;p15"/>
          <p:cNvSpPr/>
          <p:nvPr/>
        </p:nvSpPr>
        <p:spPr>
          <a:xfrm>
            <a:off x="3194328" y="3339465"/>
            <a:ext cx="4319707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Renders only visible items for efficiency.</a:t>
            </a:r>
            <a:endParaRPr sz="1750" b="0" i="0" u="none" strike="noStrike" cap="none"/>
          </a:p>
        </p:txBody>
      </p:sp>
      <p:sp>
        <p:nvSpPr>
          <p:cNvPr id="276" name="Google Shape;276;p15"/>
          <p:cNvSpPr/>
          <p:nvPr/>
        </p:nvSpPr>
        <p:spPr>
          <a:xfrm>
            <a:off x="3080861" y="3913942"/>
            <a:ext cx="10642402" cy="15240"/>
          </a:xfrm>
          <a:prstGeom prst="roundRect">
            <a:avLst>
              <a:gd name="adj" fmla="val 625116"/>
            </a:avLst>
          </a:prstGeom>
          <a:solidFill>
            <a:srgbClr val="E1C7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15"/>
          <p:cNvSpPr/>
          <p:nvPr/>
        </p:nvSpPr>
        <p:spPr>
          <a:xfrm>
            <a:off x="793790" y="4042529"/>
            <a:ext cx="4347567" cy="1306949"/>
          </a:xfrm>
          <a:prstGeom prst="roundRect">
            <a:avLst>
              <a:gd name="adj" fmla="val 7289"/>
            </a:avLst>
          </a:prstGeom>
          <a:solidFill>
            <a:srgbClr val="FBE1D0"/>
          </a:solidFill>
          <a:ln w="9525" cap="flat" cmpd="sng">
            <a:solidFill>
              <a:srgbClr val="E1C7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78" name="Google Shape;278;p1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08089" y="4496633"/>
            <a:ext cx="318968" cy="398621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15"/>
          <p:cNvSpPr/>
          <p:nvPr/>
        </p:nvSpPr>
        <p:spPr>
          <a:xfrm>
            <a:off x="5368171" y="426934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Data Driven</a:t>
            </a:r>
            <a:endParaRPr sz="2200" b="0" i="0" u="none" strike="noStrike" cap="none"/>
          </a:p>
        </p:txBody>
      </p:sp>
      <p:sp>
        <p:nvSpPr>
          <p:cNvPr id="280" name="Google Shape;280;p15"/>
          <p:cNvSpPr/>
          <p:nvPr/>
        </p:nvSpPr>
        <p:spPr>
          <a:xfrm>
            <a:off x="5368171" y="4759762"/>
            <a:ext cx="3784878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Accepts an array of data to display.</a:t>
            </a:r>
            <a:endParaRPr sz="1750" b="0" i="0" u="none" strike="noStrike" cap="none"/>
          </a:p>
        </p:txBody>
      </p:sp>
      <p:sp>
        <p:nvSpPr>
          <p:cNvPr id="281" name="Google Shape;281;p15"/>
          <p:cNvSpPr/>
          <p:nvPr/>
        </p:nvSpPr>
        <p:spPr>
          <a:xfrm>
            <a:off x="5254704" y="5334238"/>
            <a:ext cx="8468558" cy="15240"/>
          </a:xfrm>
          <a:prstGeom prst="roundRect">
            <a:avLst>
              <a:gd name="adj" fmla="val 625116"/>
            </a:avLst>
          </a:prstGeom>
          <a:solidFill>
            <a:srgbClr val="E1C7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5"/>
          <p:cNvSpPr/>
          <p:nvPr/>
        </p:nvSpPr>
        <p:spPr>
          <a:xfrm>
            <a:off x="793790" y="5462826"/>
            <a:ext cx="6521410" cy="1306949"/>
          </a:xfrm>
          <a:prstGeom prst="roundRect">
            <a:avLst>
              <a:gd name="adj" fmla="val 7289"/>
            </a:avLst>
          </a:prstGeom>
          <a:solidFill>
            <a:srgbClr val="FBE1D0"/>
          </a:solidFill>
          <a:ln w="9525" cap="flat" cmpd="sng">
            <a:solidFill>
              <a:srgbClr val="E1C7B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83" name="Google Shape;283;p1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95011" y="5916930"/>
            <a:ext cx="318968" cy="398621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15"/>
          <p:cNvSpPr/>
          <p:nvPr/>
        </p:nvSpPr>
        <p:spPr>
          <a:xfrm>
            <a:off x="7542014" y="5689640"/>
            <a:ext cx="3397329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Customizable Rendering</a:t>
            </a:r>
            <a:endParaRPr sz="2200" b="0" i="0" u="none" strike="noStrike" cap="none"/>
          </a:p>
        </p:txBody>
      </p:sp>
      <p:sp>
        <p:nvSpPr>
          <p:cNvPr id="285" name="Google Shape;285;p15"/>
          <p:cNvSpPr/>
          <p:nvPr/>
        </p:nvSpPr>
        <p:spPr>
          <a:xfrm>
            <a:off x="7542014" y="6180058"/>
            <a:ext cx="5077420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Define how each item appears with renderItem.</a:t>
            </a:r>
            <a:endParaRPr sz="1750" b="0" i="0" u="none" strike="noStrike" cap="none"/>
          </a:p>
        </p:txBody>
      </p:sp>
      <p:pic>
        <p:nvPicPr>
          <p:cNvPr id="286" name="Google Shape;286;p15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307735" y="228600"/>
            <a:ext cx="1094065" cy="426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6"/>
          <p:cNvSpPr/>
          <p:nvPr/>
        </p:nvSpPr>
        <p:spPr>
          <a:xfrm>
            <a:off x="782241" y="614601"/>
            <a:ext cx="3632121" cy="453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56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Inter"/>
              <a:buNone/>
            </a:pPr>
            <a:r>
              <a:rPr lang="en-US" sz="285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FlatList syntax</a:t>
            </a:r>
            <a:endParaRPr sz="2850" b="0" i="0" u="none" strike="noStrike" cap="none"/>
          </a:p>
        </p:txBody>
      </p:sp>
      <p:sp>
        <p:nvSpPr>
          <p:cNvPr id="293" name="Google Shape;293;p16"/>
          <p:cNvSpPr/>
          <p:nvPr/>
        </p:nvSpPr>
        <p:spPr>
          <a:xfrm>
            <a:off x="782241" y="1359098"/>
            <a:ext cx="13065919" cy="6260544"/>
          </a:xfrm>
          <a:prstGeom prst="roundRect">
            <a:avLst>
              <a:gd name="adj" fmla="val 975"/>
            </a:avLst>
          </a:prstGeom>
          <a:solidFill>
            <a:srgbClr val="FBE1D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16"/>
          <p:cNvSpPr/>
          <p:nvPr/>
        </p:nvSpPr>
        <p:spPr>
          <a:xfrm>
            <a:off x="774978" y="1359098"/>
            <a:ext cx="13080444" cy="6260544"/>
          </a:xfrm>
          <a:prstGeom prst="roundRect">
            <a:avLst>
              <a:gd name="adj" fmla="val 348"/>
            </a:avLst>
          </a:prstGeom>
          <a:solidFill>
            <a:srgbClr val="FBE1D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6"/>
          <p:cNvSpPr/>
          <p:nvPr/>
        </p:nvSpPr>
        <p:spPr>
          <a:xfrm>
            <a:off x="920234" y="1468041"/>
            <a:ext cx="12789932" cy="6042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import React from 'react'; </a:t>
            </a:r>
            <a:br>
              <a:rPr lang="en-US" sz="110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10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import { FlatList, Text, View, StyleSheet } from 'react-native'; </a:t>
            </a:r>
            <a:br>
              <a:rPr lang="en-US" sz="110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110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10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const MyFlatListComponent = () =&gt; { </a:t>
            </a:r>
            <a:br>
              <a:rPr lang="en-US" sz="110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10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  const data = [ </a:t>
            </a:r>
            <a:br>
              <a:rPr lang="en-US" sz="110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10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    { key: 'Item 1' }, </a:t>
            </a:r>
            <a:br>
              <a:rPr lang="en-US" sz="110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10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    { key: 'Item 2' }, </a:t>
            </a:r>
            <a:br>
              <a:rPr lang="en-US" sz="110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10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    { key: 'Item 3' }, </a:t>
            </a:r>
            <a:br>
              <a:rPr lang="en-US" sz="110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10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    { key: 'Item 4' }, </a:t>
            </a:r>
            <a:br>
              <a:rPr lang="en-US" sz="110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10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  ]; </a:t>
            </a:r>
            <a:br>
              <a:rPr lang="en-US" sz="110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10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 </a:t>
            </a:r>
            <a:br>
              <a:rPr lang="en-US" sz="110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10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  return ( </a:t>
            </a:r>
            <a:br>
              <a:rPr lang="en-US" sz="110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10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    &lt;FlatList  data={data} renderItem={({ item }) =&gt; &lt;Text style={styles.item}&gt;{item.key}&lt;/Text&gt;} /&gt; </a:t>
            </a:r>
            <a:br>
              <a:rPr lang="en-US" sz="110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10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  ); </a:t>
            </a:r>
            <a:br>
              <a:rPr lang="en-US" sz="110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10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}; </a:t>
            </a:r>
            <a:br>
              <a:rPr lang="en-US" sz="110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10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 </a:t>
            </a:r>
            <a:br>
              <a:rPr lang="en-US" sz="110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10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const styles = StyleSheet.create({ </a:t>
            </a:r>
            <a:br>
              <a:rPr lang="en-US" sz="110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10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  item: { </a:t>
            </a:r>
            <a:br>
              <a:rPr lang="en-US" sz="110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10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    padding: 10, </a:t>
            </a:r>
            <a:br>
              <a:rPr lang="en-US" sz="110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10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    fontSize: 18, </a:t>
            </a:r>
            <a:br>
              <a:rPr lang="en-US" sz="110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10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    height: 44, </a:t>
            </a:r>
            <a:br>
              <a:rPr lang="en-US" sz="110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10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  }, </a:t>
            </a:r>
            <a:br>
              <a:rPr lang="en-US" sz="110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10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}); </a:t>
            </a:r>
            <a:br>
              <a:rPr lang="en-US" sz="110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10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 </a:t>
            </a:r>
            <a:br>
              <a:rPr lang="en-US" sz="110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10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  <a:t>export default MyFlatListComponent; </a:t>
            </a:r>
            <a:br>
              <a:rPr lang="en-US" sz="1100" b="0" i="0" u="none" strike="noStrike" cap="none">
                <a:solidFill>
                  <a:srgbClr val="000000"/>
                </a:solidFill>
                <a:highlight>
                  <a:srgbClr val="FBE1D0"/>
                </a:highlight>
                <a:latin typeface="Consolas"/>
                <a:ea typeface="Consolas"/>
                <a:cs typeface="Consolas"/>
                <a:sym typeface="Consolas"/>
              </a:rPr>
            </a:br>
            <a:endParaRPr sz="1100" b="0" i="0" u="none" strike="noStrike" cap="none"/>
          </a:p>
        </p:txBody>
      </p:sp>
      <p:pic>
        <p:nvPicPr>
          <p:cNvPr id="296" name="Google Shape;296;p1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307735" y="228600"/>
            <a:ext cx="1094065" cy="426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Google Shape;302;p1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17"/>
          <p:cNvSpPr/>
          <p:nvPr/>
        </p:nvSpPr>
        <p:spPr>
          <a:xfrm>
            <a:off x="793790" y="888682"/>
            <a:ext cx="6011466" cy="708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Inter"/>
              <a:buNone/>
            </a:pPr>
            <a:r>
              <a:rPr lang="en-US" sz="445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Putting It All Together</a:t>
            </a:r>
            <a:endParaRPr sz="4450" b="0" i="0" u="none" strike="noStrike" cap="none"/>
          </a:p>
        </p:txBody>
      </p:sp>
      <p:sp>
        <p:nvSpPr>
          <p:cNvPr id="304" name="Google Shape;304;p17"/>
          <p:cNvSpPr/>
          <p:nvPr/>
        </p:nvSpPr>
        <p:spPr>
          <a:xfrm>
            <a:off x="793790" y="2050971"/>
            <a:ext cx="3608070" cy="748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50"/>
              <a:buFont typeface="Inter"/>
              <a:buNone/>
            </a:pPr>
            <a:r>
              <a:rPr lang="en-US" sz="585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7</a:t>
            </a:r>
            <a:endParaRPr sz="5850" b="0" i="0" u="none" strike="noStrike" cap="none"/>
          </a:p>
        </p:txBody>
      </p:sp>
      <p:sp>
        <p:nvSpPr>
          <p:cNvPr id="305" name="Google Shape;305;p17"/>
          <p:cNvSpPr/>
          <p:nvPr/>
        </p:nvSpPr>
        <p:spPr>
          <a:xfrm>
            <a:off x="1180148" y="3082766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Core Components</a:t>
            </a:r>
            <a:endParaRPr sz="2200" b="0" i="0" u="none" strike="noStrike" cap="none"/>
          </a:p>
        </p:txBody>
      </p:sp>
      <p:sp>
        <p:nvSpPr>
          <p:cNvPr id="306" name="Google Shape;306;p17"/>
          <p:cNvSpPr/>
          <p:nvPr/>
        </p:nvSpPr>
        <p:spPr>
          <a:xfrm>
            <a:off x="793790" y="3573185"/>
            <a:ext cx="3608070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Essential building blocks for React Native apps.</a:t>
            </a:r>
            <a:endParaRPr sz="1750" b="0" i="0" u="none" strike="noStrike" cap="none"/>
          </a:p>
        </p:txBody>
      </p:sp>
      <p:sp>
        <p:nvSpPr>
          <p:cNvPr id="307" name="Google Shape;307;p17"/>
          <p:cNvSpPr/>
          <p:nvPr/>
        </p:nvSpPr>
        <p:spPr>
          <a:xfrm>
            <a:off x="4742021" y="2050971"/>
            <a:ext cx="3608189" cy="748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50"/>
              <a:buFont typeface="Inter"/>
              <a:buNone/>
            </a:pPr>
            <a:r>
              <a:rPr lang="en-US" sz="585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sz="5850" b="0" i="0" u="none" strike="noStrike" cap="none"/>
          </a:p>
        </p:txBody>
      </p:sp>
      <p:sp>
        <p:nvSpPr>
          <p:cNvPr id="308" name="Google Shape;308;p17"/>
          <p:cNvSpPr/>
          <p:nvPr/>
        </p:nvSpPr>
        <p:spPr>
          <a:xfrm>
            <a:off x="5128498" y="3082766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Platforms</a:t>
            </a:r>
            <a:endParaRPr sz="2200" b="0" i="0" u="none" strike="noStrike" cap="none"/>
          </a:p>
        </p:txBody>
      </p:sp>
      <p:sp>
        <p:nvSpPr>
          <p:cNvPr id="309" name="Google Shape;309;p17"/>
          <p:cNvSpPr/>
          <p:nvPr/>
        </p:nvSpPr>
        <p:spPr>
          <a:xfrm>
            <a:off x="4742021" y="3573185"/>
            <a:ext cx="3608189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iOS and Android from one codebase.</a:t>
            </a:r>
            <a:endParaRPr sz="1750" b="0" i="0" u="none" strike="noStrike" cap="none"/>
          </a:p>
        </p:txBody>
      </p:sp>
      <p:sp>
        <p:nvSpPr>
          <p:cNvPr id="310" name="Google Shape;310;p17"/>
          <p:cNvSpPr/>
          <p:nvPr/>
        </p:nvSpPr>
        <p:spPr>
          <a:xfrm>
            <a:off x="2767846" y="5092779"/>
            <a:ext cx="3608189" cy="748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50"/>
              <a:buFont typeface="Inter"/>
              <a:buNone/>
            </a:pPr>
            <a:r>
              <a:rPr lang="en-US" sz="585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sz="5850" b="0" i="0" u="none" strike="noStrike" cap="none"/>
          </a:p>
        </p:txBody>
      </p:sp>
      <p:sp>
        <p:nvSpPr>
          <p:cNvPr id="311" name="Google Shape;311;p17"/>
          <p:cNvSpPr/>
          <p:nvPr/>
        </p:nvSpPr>
        <p:spPr>
          <a:xfrm>
            <a:off x="3154323" y="612457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lang="en-US" sz="2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Framework</a:t>
            </a:r>
            <a:endParaRPr sz="2200" b="0" i="0" u="none" strike="noStrike" cap="none"/>
          </a:p>
        </p:txBody>
      </p:sp>
      <p:sp>
        <p:nvSpPr>
          <p:cNvPr id="312" name="Google Shape;312;p17"/>
          <p:cNvSpPr/>
          <p:nvPr/>
        </p:nvSpPr>
        <p:spPr>
          <a:xfrm>
            <a:off x="2767846" y="6614993"/>
            <a:ext cx="3608189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Unified approach to mobile development.</a:t>
            </a:r>
            <a:endParaRPr sz="1750" b="0" i="0" u="none" strike="noStrike" cap="non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1247</Words>
  <Application>Microsoft Office PowerPoint</Application>
  <PresentationFormat>Custom</PresentationFormat>
  <Paragraphs>189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Consolas</vt:lpstr>
      <vt:lpstr>Arial</vt:lpstr>
      <vt:lpstr>Calibri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toan luong</cp:lastModifiedBy>
  <cp:revision>1</cp:revision>
  <dcterms:created xsi:type="dcterms:W3CDTF">2025-04-27T15:13:57Z</dcterms:created>
  <dcterms:modified xsi:type="dcterms:W3CDTF">2026-06-11T16:12:20Z</dcterms:modified>
</cp:coreProperties>
</file>