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bold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xRs7vVPUijvqiQGXIfV3xbndQ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4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bg>
      <p:bgPr>
        <a:solidFill>
          <a:srgbClr val="00000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bg>
      <p:bgPr>
        <a:solidFill>
          <a:srgbClr val="000000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bg>
      <p:bgPr>
        <a:solidFill>
          <a:srgbClr val="00000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bg>
      <p:bgPr>
        <a:solidFill>
          <a:srgbClr val="000000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bg>
      <p:bgPr>
        <a:solidFill>
          <a:srgbClr val="000000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bg>
      <p:bgPr>
        <a:solidFill>
          <a:srgbClr val="000000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bg>
      <p:bgPr>
        <a:solidFill>
          <a:srgbClr val="000000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bg>
      <p:bgPr>
        <a:solidFill>
          <a:srgbClr val="000000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bg>
      <p:bgPr>
        <a:solidFill>
          <a:srgbClr val="000000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Introduction to React Native</a:t>
            </a:r>
            <a:endParaRPr sz="4450" b="0" i="0" u="none" strike="noStrike" cap="none" dirty="0"/>
          </a:p>
        </p:txBody>
      </p:sp>
      <p:sp>
        <p:nvSpPr>
          <p:cNvPr id="48" name="Google Shape;48;p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Curious about building mobile apps with one codebase? Let's explore React Native - Facebook's revolutionary framework that brings JavaScript to mobile development.</a:t>
            </a:r>
            <a:endParaRPr sz="1750" b="0" i="0" u="none" strike="noStrike" cap="none" dirty="0"/>
          </a:p>
        </p:txBody>
      </p:sp>
      <p:pic>
        <p:nvPicPr>
          <p:cNvPr id="49" name="Google Shape;49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6280190" y="1465421"/>
            <a:ext cx="6038612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What is React Native?</a:t>
            </a:r>
            <a:endParaRPr sz="4450" b="0" i="0" u="none" strike="noStrike" cap="none"/>
          </a:p>
        </p:txBody>
      </p:sp>
      <p:sp>
        <p:nvSpPr>
          <p:cNvPr id="57" name="Google Shape;57;p2"/>
          <p:cNvSpPr/>
          <p:nvPr/>
        </p:nvSpPr>
        <p:spPr>
          <a:xfrm>
            <a:off x="6280190" y="27695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365260" y="281201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"/>
              <a:buNone/>
            </a:pPr>
            <a:r>
              <a:rPr lang="en-US" sz="26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2650" b="0" i="0" u="none" strike="noStrike" cap="none"/>
          </a:p>
        </p:txBody>
      </p:sp>
      <p:sp>
        <p:nvSpPr>
          <p:cNvPr id="59" name="Google Shape;59;p2"/>
          <p:cNvSpPr/>
          <p:nvPr/>
        </p:nvSpPr>
        <p:spPr>
          <a:xfrm>
            <a:off x="7017306" y="2769513"/>
            <a:ext cx="2927747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JavaScript Framework</a:t>
            </a:r>
            <a:endParaRPr sz="2200" b="0" i="0" u="none" strike="noStrike" cap="none"/>
          </a:p>
        </p:txBody>
      </p:sp>
      <p:sp>
        <p:nvSpPr>
          <p:cNvPr id="60" name="Google Shape;60;p2"/>
          <p:cNvSpPr/>
          <p:nvPr/>
        </p:nvSpPr>
        <p:spPr>
          <a:xfrm>
            <a:off x="7017306" y="3614261"/>
            <a:ext cx="2927747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Created by Facebook in 2015. Allows developers to build mobile apps using JavaScript and React.</a:t>
            </a:r>
            <a:endParaRPr sz="1750" b="0" i="0" u="none" strike="noStrike" cap="none"/>
          </a:p>
        </p:txBody>
      </p:sp>
      <p:sp>
        <p:nvSpPr>
          <p:cNvPr id="61" name="Google Shape;61;p2"/>
          <p:cNvSpPr/>
          <p:nvPr/>
        </p:nvSpPr>
        <p:spPr>
          <a:xfrm>
            <a:off x="10171867" y="27695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10256937" y="281201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"/>
              <a:buNone/>
            </a:pPr>
            <a:r>
              <a:rPr lang="en-US" sz="26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2650" b="0" i="0" u="none" strike="noStrike" cap="none"/>
          </a:p>
        </p:txBody>
      </p:sp>
      <p:sp>
        <p:nvSpPr>
          <p:cNvPr id="63" name="Google Shape;63;p2"/>
          <p:cNvSpPr/>
          <p:nvPr/>
        </p:nvSpPr>
        <p:spPr>
          <a:xfrm>
            <a:off x="10908983" y="2769513"/>
            <a:ext cx="2927747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Cross-Platform Solution</a:t>
            </a:r>
            <a:endParaRPr sz="2200" b="0" i="0" u="none" strike="noStrike" cap="none"/>
          </a:p>
        </p:txBody>
      </p:sp>
      <p:sp>
        <p:nvSpPr>
          <p:cNvPr id="64" name="Google Shape;64;p2"/>
          <p:cNvSpPr/>
          <p:nvPr/>
        </p:nvSpPr>
        <p:spPr>
          <a:xfrm>
            <a:off x="10908983" y="3614261"/>
            <a:ext cx="2927747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Write once, run anywhere. Same codebase works on both iOS and Android platforms.</a:t>
            </a:r>
            <a:endParaRPr sz="1750" b="0" i="0" u="none" strike="noStrike" cap="none"/>
          </a:p>
        </p:txBody>
      </p:sp>
      <p:sp>
        <p:nvSpPr>
          <p:cNvPr id="65" name="Google Shape;65;p2"/>
          <p:cNvSpPr/>
          <p:nvPr/>
        </p:nvSpPr>
        <p:spPr>
          <a:xfrm>
            <a:off x="6280190" y="55478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6365260" y="559034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"/>
              <a:buNone/>
            </a:pPr>
            <a:r>
              <a:rPr lang="en-US" sz="26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2650" b="0" i="0" u="none" strike="noStrike" cap="none"/>
          </a:p>
        </p:txBody>
      </p:sp>
      <p:sp>
        <p:nvSpPr>
          <p:cNvPr id="67" name="Google Shape;67;p2"/>
          <p:cNvSpPr/>
          <p:nvPr/>
        </p:nvSpPr>
        <p:spPr>
          <a:xfrm>
            <a:off x="7017306" y="554783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Native Performance</a:t>
            </a:r>
            <a:endParaRPr sz="2200" b="0" i="0" u="none" strike="noStrike" cap="none"/>
          </a:p>
        </p:txBody>
      </p:sp>
      <p:sp>
        <p:nvSpPr>
          <p:cNvPr id="68" name="Google Shape;68;p2"/>
          <p:cNvSpPr/>
          <p:nvPr/>
        </p:nvSpPr>
        <p:spPr>
          <a:xfrm>
            <a:off x="7017306" y="6038255"/>
            <a:ext cx="6819305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Unlike web wrappers, React Native compiles to actual native components for better performance.</a:t>
            </a:r>
            <a:endParaRPr sz="1750" b="0" i="0" u="none" strike="noStrike" cap="none"/>
          </a:p>
        </p:txBody>
      </p:sp>
      <p:pic>
        <p:nvPicPr>
          <p:cNvPr id="69" name="Google Shape;69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793790" y="2358509"/>
            <a:ext cx="748534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Why Choose React Native?</a:t>
            </a:r>
            <a:endParaRPr sz="4450" b="0" i="0" u="none" strike="noStrike" cap="none"/>
          </a:p>
        </p:txBody>
      </p:sp>
      <p:sp>
        <p:nvSpPr>
          <p:cNvPr id="76" name="Google Shape;76;p3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Single Codebase</a:t>
            </a:r>
            <a:endParaRPr sz="2200" b="0" i="0" u="none" strike="noStrike" cap="none"/>
          </a:p>
        </p:txBody>
      </p:sp>
      <p:sp>
        <p:nvSpPr>
          <p:cNvPr id="77" name="Google Shape;77;p3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Maintain one codebase instead of separate iOS and Android versions. This dramatically cuts development time.</a:t>
            </a:r>
            <a:endParaRPr sz="1750" b="0" i="0" u="none" strike="noStrike" cap="none"/>
          </a:p>
        </p:txBody>
      </p:sp>
      <p:sp>
        <p:nvSpPr>
          <p:cNvPr id="78" name="Google Shape;78;p3"/>
          <p:cNvSpPr/>
          <p:nvPr/>
        </p:nvSpPr>
        <p:spPr>
          <a:xfrm>
            <a:off x="5332928" y="3634264"/>
            <a:ext cx="3352919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Familiar React Concepts</a:t>
            </a:r>
            <a:endParaRPr sz="2200" b="0" i="0" u="none" strike="noStrike" cap="none"/>
          </a:p>
        </p:txBody>
      </p:sp>
      <p:sp>
        <p:nvSpPr>
          <p:cNvPr id="79" name="Google Shape;79;p3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Web developers can leverage existing React skills. Component-based architecture feels instantly familiar.</a:t>
            </a:r>
            <a:endParaRPr sz="1750" b="0" i="0" u="none" strike="noStrike" cap="none"/>
          </a:p>
        </p:txBody>
      </p:sp>
      <p:sp>
        <p:nvSpPr>
          <p:cNvPr id="80" name="Google Shape;80;p3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Hot Reloading</a:t>
            </a:r>
            <a:endParaRPr sz="2200" b="0" i="0" u="none" strike="noStrike" cap="none"/>
          </a:p>
        </p:txBody>
      </p:sp>
      <p:sp>
        <p:nvSpPr>
          <p:cNvPr id="81" name="Google Shape;81;p3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See changes instantly without restarting your app. This makes development faster and more interactive.</a:t>
            </a:r>
            <a:endParaRPr sz="1750" b="0" i="0" u="none" strike="noStrike" cap="none"/>
          </a:p>
        </p:txBody>
      </p:sp>
      <p:pic>
        <p:nvPicPr>
          <p:cNvPr id="82" name="Google Shape;82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786527" y="791647"/>
            <a:ext cx="7129105" cy="66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</a:pPr>
            <a:r>
              <a:rPr lang="en-US" sz="4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History of React Native</a:t>
            </a:r>
            <a:endParaRPr sz="4200" b="0" i="0" u="none" strike="noStrike" cap="none"/>
          </a:p>
        </p:txBody>
      </p:sp>
      <p:sp>
        <p:nvSpPr>
          <p:cNvPr id="89" name="Google Shape;89;p4"/>
          <p:cNvSpPr/>
          <p:nvPr/>
        </p:nvSpPr>
        <p:spPr>
          <a:xfrm>
            <a:off x="786527" y="1885712"/>
            <a:ext cx="13057346" cy="341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From hackathon project to industry standard framework</a:t>
            </a:r>
            <a:endParaRPr sz="1650" b="0" i="0" u="none" strike="noStrike" cap="none"/>
          </a:p>
        </p:txBody>
      </p:sp>
      <p:sp>
        <p:nvSpPr>
          <p:cNvPr id="90" name="Google Shape;90;p4"/>
          <p:cNvSpPr/>
          <p:nvPr/>
        </p:nvSpPr>
        <p:spPr>
          <a:xfrm>
            <a:off x="786527" y="2707481"/>
            <a:ext cx="13057346" cy="30480"/>
          </a:xfrm>
          <a:prstGeom prst="roundRect">
            <a:avLst>
              <a:gd name="adj" fmla="val 294206"/>
            </a:avLst>
          </a:prstGeom>
          <a:solidFill>
            <a:srgbClr val="E1C7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770340" y="2707481"/>
            <a:ext cx="30480" cy="640437"/>
          </a:xfrm>
          <a:prstGeom prst="roundRect">
            <a:avLst>
              <a:gd name="adj" fmla="val 294206"/>
            </a:avLst>
          </a:prstGeom>
          <a:solidFill>
            <a:srgbClr val="E1C7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1545431" y="2467332"/>
            <a:ext cx="480298" cy="480298"/>
          </a:xfrm>
          <a:prstGeom prst="roundRect">
            <a:avLst>
              <a:gd name="adj" fmla="val 18670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1625501" y="2507337"/>
            <a:ext cx="320159" cy="4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"/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2500" b="0" i="0" u="none" strike="noStrike" cap="none"/>
          </a:p>
        </p:txBody>
      </p:sp>
      <p:sp>
        <p:nvSpPr>
          <p:cNvPr id="94" name="Google Shape;94;p4"/>
          <p:cNvSpPr/>
          <p:nvPr/>
        </p:nvSpPr>
        <p:spPr>
          <a:xfrm>
            <a:off x="1000006" y="3561517"/>
            <a:ext cx="1571268" cy="3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2013</a:t>
            </a:r>
            <a:endParaRPr sz="2100" b="0" i="0" u="none" strike="noStrike" cap="none"/>
          </a:p>
        </p:txBody>
      </p:sp>
      <p:sp>
        <p:nvSpPr>
          <p:cNvPr id="95" name="Google Shape;95;p4"/>
          <p:cNvSpPr/>
          <p:nvPr/>
        </p:nvSpPr>
        <p:spPr>
          <a:xfrm>
            <a:off x="1000006" y="4023122"/>
            <a:ext cx="1571268" cy="341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Facebook engineer Jordan Walke creates internal prototype called "ReactJS for Native" during company hackathon.</a:t>
            </a:r>
            <a:endParaRPr sz="1650" b="0" i="0" u="none" strike="noStrike" cap="none"/>
          </a:p>
        </p:txBody>
      </p:sp>
      <p:sp>
        <p:nvSpPr>
          <p:cNvPr id="96" name="Google Shape;96;p4"/>
          <p:cNvSpPr/>
          <p:nvPr/>
        </p:nvSpPr>
        <p:spPr>
          <a:xfrm>
            <a:off x="3982164" y="2707481"/>
            <a:ext cx="30480" cy="640437"/>
          </a:xfrm>
          <a:prstGeom prst="roundRect">
            <a:avLst>
              <a:gd name="adj" fmla="val 294206"/>
            </a:avLst>
          </a:prstGeom>
          <a:solidFill>
            <a:srgbClr val="E1C7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757255" y="2467332"/>
            <a:ext cx="480298" cy="480298"/>
          </a:xfrm>
          <a:prstGeom prst="roundRect">
            <a:avLst>
              <a:gd name="adj" fmla="val 18670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3837325" y="2507337"/>
            <a:ext cx="320159" cy="4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"/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2500" b="0" i="0" u="none" strike="noStrike" cap="none"/>
          </a:p>
        </p:txBody>
      </p:sp>
      <p:sp>
        <p:nvSpPr>
          <p:cNvPr id="99" name="Google Shape;99;p4"/>
          <p:cNvSpPr/>
          <p:nvPr/>
        </p:nvSpPr>
        <p:spPr>
          <a:xfrm>
            <a:off x="3211711" y="3561517"/>
            <a:ext cx="1571387" cy="3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2015</a:t>
            </a:r>
            <a:endParaRPr sz="2100" b="0" i="0" u="none" strike="noStrike" cap="none"/>
          </a:p>
        </p:txBody>
      </p:sp>
      <p:sp>
        <p:nvSpPr>
          <p:cNvPr id="100" name="Google Shape;100;p4"/>
          <p:cNvSpPr/>
          <p:nvPr/>
        </p:nvSpPr>
        <p:spPr>
          <a:xfrm>
            <a:off x="3211711" y="4023122"/>
            <a:ext cx="1571387" cy="204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Official public release of React Native at Facebook's F8 developer conference.</a:t>
            </a:r>
            <a:endParaRPr sz="1650" b="0" i="0" u="none" strike="noStrike" cap="none"/>
          </a:p>
        </p:txBody>
      </p:sp>
      <p:sp>
        <p:nvSpPr>
          <p:cNvPr id="101" name="Google Shape;101;p4"/>
          <p:cNvSpPr/>
          <p:nvPr/>
        </p:nvSpPr>
        <p:spPr>
          <a:xfrm>
            <a:off x="6193988" y="2707481"/>
            <a:ext cx="30480" cy="640437"/>
          </a:xfrm>
          <a:prstGeom prst="roundRect">
            <a:avLst>
              <a:gd name="adj" fmla="val 294206"/>
            </a:avLst>
          </a:prstGeom>
          <a:solidFill>
            <a:srgbClr val="E1C7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5969079" y="2467332"/>
            <a:ext cx="480298" cy="480298"/>
          </a:xfrm>
          <a:prstGeom prst="roundRect">
            <a:avLst>
              <a:gd name="adj" fmla="val 18670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6049149" y="2507337"/>
            <a:ext cx="320159" cy="4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"/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2500" b="0" i="0" u="none" strike="noStrike" cap="none"/>
          </a:p>
        </p:txBody>
      </p:sp>
      <p:sp>
        <p:nvSpPr>
          <p:cNvPr id="104" name="Google Shape;104;p4"/>
          <p:cNvSpPr/>
          <p:nvPr/>
        </p:nvSpPr>
        <p:spPr>
          <a:xfrm>
            <a:off x="5423535" y="3561517"/>
            <a:ext cx="1571387" cy="3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2016</a:t>
            </a:r>
            <a:endParaRPr sz="2100" b="0" i="0" u="none" strike="noStrike" cap="none"/>
          </a:p>
        </p:txBody>
      </p:sp>
      <p:sp>
        <p:nvSpPr>
          <p:cNvPr id="105" name="Google Shape;105;p4"/>
          <p:cNvSpPr/>
          <p:nvPr/>
        </p:nvSpPr>
        <p:spPr>
          <a:xfrm>
            <a:off x="5423535" y="4023122"/>
            <a:ext cx="1571387" cy="2390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Significant adoption by major companies like Airbnb, Instagram, and Walmart.</a:t>
            </a:r>
            <a:endParaRPr sz="1650" b="0" i="0" u="none" strike="noStrike" cap="none"/>
          </a:p>
        </p:txBody>
      </p:sp>
      <p:sp>
        <p:nvSpPr>
          <p:cNvPr id="106" name="Google Shape;106;p4"/>
          <p:cNvSpPr/>
          <p:nvPr/>
        </p:nvSpPr>
        <p:spPr>
          <a:xfrm>
            <a:off x="8405813" y="2707481"/>
            <a:ext cx="30480" cy="640437"/>
          </a:xfrm>
          <a:prstGeom prst="roundRect">
            <a:avLst>
              <a:gd name="adj" fmla="val 294206"/>
            </a:avLst>
          </a:prstGeom>
          <a:solidFill>
            <a:srgbClr val="E1C7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8180903" y="2467332"/>
            <a:ext cx="480298" cy="480298"/>
          </a:xfrm>
          <a:prstGeom prst="roundRect">
            <a:avLst>
              <a:gd name="adj" fmla="val 18670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8260973" y="2507337"/>
            <a:ext cx="320159" cy="4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"/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2500" b="0" i="0" u="none" strike="noStrike" cap="none"/>
          </a:p>
        </p:txBody>
      </p:sp>
      <p:sp>
        <p:nvSpPr>
          <p:cNvPr id="109" name="Google Shape;109;p4"/>
          <p:cNvSpPr/>
          <p:nvPr/>
        </p:nvSpPr>
        <p:spPr>
          <a:xfrm>
            <a:off x="7635359" y="3561517"/>
            <a:ext cx="1571387" cy="3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2018</a:t>
            </a:r>
            <a:endParaRPr sz="2100" b="0" i="0" u="none" strike="noStrike" cap="none"/>
          </a:p>
        </p:txBody>
      </p:sp>
      <p:sp>
        <p:nvSpPr>
          <p:cNvPr id="110" name="Google Shape;110;p4"/>
          <p:cNvSpPr/>
          <p:nvPr/>
        </p:nvSpPr>
        <p:spPr>
          <a:xfrm>
            <a:off x="7635359" y="4023122"/>
            <a:ext cx="1571387" cy="273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Facebook announces "React Native 2.0" architecture overhaul for improved performance.</a:t>
            </a:r>
            <a:endParaRPr sz="1650" b="0" i="0" u="none" strike="noStrike" cap="none"/>
          </a:p>
        </p:txBody>
      </p:sp>
      <p:sp>
        <p:nvSpPr>
          <p:cNvPr id="111" name="Google Shape;111;p4"/>
          <p:cNvSpPr/>
          <p:nvPr/>
        </p:nvSpPr>
        <p:spPr>
          <a:xfrm>
            <a:off x="10617637" y="2707481"/>
            <a:ext cx="30480" cy="640437"/>
          </a:xfrm>
          <a:prstGeom prst="roundRect">
            <a:avLst>
              <a:gd name="adj" fmla="val 294206"/>
            </a:avLst>
          </a:prstGeom>
          <a:solidFill>
            <a:srgbClr val="E1C7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10392728" y="2467332"/>
            <a:ext cx="480298" cy="480298"/>
          </a:xfrm>
          <a:prstGeom prst="roundRect">
            <a:avLst>
              <a:gd name="adj" fmla="val 18670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10472797" y="2507337"/>
            <a:ext cx="320159" cy="4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"/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2500" b="0" i="0" u="none" strike="noStrike" cap="none"/>
          </a:p>
        </p:txBody>
      </p:sp>
      <p:sp>
        <p:nvSpPr>
          <p:cNvPr id="114" name="Google Shape;114;p4"/>
          <p:cNvSpPr/>
          <p:nvPr/>
        </p:nvSpPr>
        <p:spPr>
          <a:xfrm>
            <a:off x="9847183" y="3561517"/>
            <a:ext cx="1571387" cy="3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2019-2020</a:t>
            </a:r>
            <a:endParaRPr sz="2100" b="0" i="0" u="none" strike="noStrike" cap="none"/>
          </a:p>
        </p:txBody>
      </p:sp>
      <p:sp>
        <p:nvSpPr>
          <p:cNvPr id="115" name="Google Shape;115;p4"/>
          <p:cNvSpPr/>
          <p:nvPr/>
        </p:nvSpPr>
        <p:spPr>
          <a:xfrm>
            <a:off x="9847183" y="4023122"/>
            <a:ext cx="1571387" cy="1707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Introduction of Hooks API and improved React Native Web support.</a:t>
            </a:r>
            <a:endParaRPr sz="1650" b="0" i="0" u="none" strike="noStrike" cap="none"/>
          </a:p>
        </p:txBody>
      </p:sp>
      <p:sp>
        <p:nvSpPr>
          <p:cNvPr id="116" name="Google Shape;116;p4"/>
          <p:cNvSpPr/>
          <p:nvPr/>
        </p:nvSpPr>
        <p:spPr>
          <a:xfrm>
            <a:off x="12829342" y="2707481"/>
            <a:ext cx="30480" cy="640437"/>
          </a:xfrm>
          <a:prstGeom prst="roundRect">
            <a:avLst>
              <a:gd name="adj" fmla="val 294206"/>
            </a:avLst>
          </a:prstGeom>
          <a:solidFill>
            <a:srgbClr val="E1C7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12604433" y="2467332"/>
            <a:ext cx="480298" cy="480298"/>
          </a:xfrm>
          <a:prstGeom prst="roundRect">
            <a:avLst>
              <a:gd name="adj" fmla="val 18670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12684502" y="2507337"/>
            <a:ext cx="320159" cy="4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"/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sz="2500" b="0" i="0" u="none" strike="noStrike" cap="none"/>
          </a:p>
        </p:txBody>
      </p:sp>
      <p:sp>
        <p:nvSpPr>
          <p:cNvPr id="119" name="Google Shape;119;p4"/>
          <p:cNvSpPr/>
          <p:nvPr/>
        </p:nvSpPr>
        <p:spPr>
          <a:xfrm>
            <a:off x="12059007" y="3561517"/>
            <a:ext cx="1571268" cy="667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2021-Present</a:t>
            </a:r>
            <a:endParaRPr sz="2100" b="0" i="0" u="none" strike="noStrike" cap="none"/>
          </a:p>
        </p:txBody>
      </p:sp>
      <p:sp>
        <p:nvSpPr>
          <p:cNvPr id="120" name="Google Shape;120;p4"/>
          <p:cNvSpPr/>
          <p:nvPr/>
        </p:nvSpPr>
        <p:spPr>
          <a:xfrm>
            <a:off x="12059007" y="4356735"/>
            <a:ext cx="1571268" cy="2390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New architecture with Fabric UI renderer and Turbo Modules for better performance.</a:t>
            </a:r>
            <a:endParaRPr sz="1650" b="0" i="0" u="none" strike="noStrike" cap="none"/>
          </a:p>
        </p:txBody>
      </p:sp>
      <p:pic>
        <p:nvPicPr>
          <p:cNvPr id="121" name="Google Shape;121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255174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793790" y="3317319"/>
            <a:ext cx="5562838" cy="63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nter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React vs. React Native</a:t>
            </a:r>
            <a:endParaRPr sz="4000" b="0" i="0" u="none" strike="noStrike" cap="none"/>
          </a:p>
        </p:txBody>
      </p:sp>
      <p:sp>
        <p:nvSpPr>
          <p:cNvPr id="129" name="Google Shape;129;p5"/>
          <p:cNvSpPr/>
          <p:nvPr/>
        </p:nvSpPr>
        <p:spPr>
          <a:xfrm>
            <a:off x="793790" y="4465439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React</a:t>
            </a:r>
            <a:endParaRPr sz="2000" b="0" i="0" u="none" strike="noStrike" cap="none"/>
          </a:p>
        </p:txBody>
      </p:sp>
      <p:sp>
        <p:nvSpPr>
          <p:cNvPr id="130" name="Google Shape;130;p5"/>
          <p:cNvSpPr/>
          <p:nvPr/>
        </p:nvSpPr>
        <p:spPr>
          <a:xfrm>
            <a:off x="793790" y="4988362"/>
            <a:ext cx="6272451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JavaScript library for building web interfaces</a:t>
            </a:r>
            <a:endParaRPr sz="1600" b="0" i="0" u="none" strike="noStrike" cap="none"/>
          </a:p>
        </p:txBody>
      </p:sp>
      <p:sp>
        <p:nvSpPr>
          <p:cNvPr id="131" name="Google Shape;131;p5"/>
          <p:cNvSpPr/>
          <p:nvPr/>
        </p:nvSpPr>
        <p:spPr>
          <a:xfrm>
            <a:off x="793790" y="5386507"/>
            <a:ext cx="6272451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Uses HTML DOM elements</a:t>
            </a:r>
            <a:endParaRPr sz="1600" b="0" i="0" u="none" strike="noStrike" cap="none"/>
          </a:p>
        </p:txBody>
      </p:sp>
      <p:sp>
        <p:nvSpPr>
          <p:cNvPr id="132" name="Google Shape;132;p5"/>
          <p:cNvSpPr/>
          <p:nvPr/>
        </p:nvSpPr>
        <p:spPr>
          <a:xfrm>
            <a:off x="793790" y="5784652"/>
            <a:ext cx="6272451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Web-focused styling with CSS</a:t>
            </a:r>
            <a:endParaRPr sz="1600" b="0" i="0" u="none" strike="noStrike" cap="none"/>
          </a:p>
        </p:txBody>
      </p:sp>
      <p:sp>
        <p:nvSpPr>
          <p:cNvPr id="133" name="Google Shape;133;p5"/>
          <p:cNvSpPr/>
          <p:nvPr/>
        </p:nvSpPr>
        <p:spPr>
          <a:xfrm>
            <a:off x="793790" y="6182797"/>
            <a:ext cx="6272451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Renders to browser DOM</a:t>
            </a:r>
            <a:endParaRPr sz="1600" b="0" i="0" u="none" strike="noStrike" cap="none"/>
          </a:p>
        </p:txBody>
      </p:sp>
      <p:sp>
        <p:nvSpPr>
          <p:cNvPr id="134" name="Google Shape;134;p5"/>
          <p:cNvSpPr/>
          <p:nvPr/>
        </p:nvSpPr>
        <p:spPr>
          <a:xfrm>
            <a:off x="7571780" y="4465439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React Native</a:t>
            </a:r>
            <a:endParaRPr sz="2000" b="0" i="0" u="none" strike="noStrike" cap="none"/>
          </a:p>
        </p:txBody>
      </p:sp>
      <p:sp>
        <p:nvSpPr>
          <p:cNvPr id="135" name="Google Shape;135;p5"/>
          <p:cNvSpPr/>
          <p:nvPr/>
        </p:nvSpPr>
        <p:spPr>
          <a:xfrm>
            <a:off x="7571780" y="4988362"/>
            <a:ext cx="6272451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Framework specifically for mobile apps</a:t>
            </a:r>
            <a:endParaRPr sz="1600" b="0" i="0" u="none" strike="noStrike" cap="none"/>
          </a:p>
        </p:txBody>
      </p:sp>
      <p:sp>
        <p:nvSpPr>
          <p:cNvPr id="136" name="Google Shape;136;p5"/>
          <p:cNvSpPr/>
          <p:nvPr/>
        </p:nvSpPr>
        <p:spPr>
          <a:xfrm>
            <a:off x="7571780" y="5386507"/>
            <a:ext cx="6272451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Uses native UI components</a:t>
            </a:r>
            <a:endParaRPr sz="1600" b="0" i="0" u="none" strike="noStrike" cap="none"/>
          </a:p>
        </p:txBody>
      </p:sp>
      <p:sp>
        <p:nvSpPr>
          <p:cNvPr id="137" name="Google Shape;137;p5"/>
          <p:cNvSpPr/>
          <p:nvPr/>
        </p:nvSpPr>
        <p:spPr>
          <a:xfrm>
            <a:off x="7571780" y="5784652"/>
            <a:ext cx="6272451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Platform-specific styling with JavaScript</a:t>
            </a:r>
            <a:endParaRPr sz="1600" b="0" i="0" u="none" strike="noStrike" cap="none"/>
          </a:p>
        </p:txBody>
      </p:sp>
      <p:sp>
        <p:nvSpPr>
          <p:cNvPr id="138" name="Google Shape;138;p5"/>
          <p:cNvSpPr/>
          <p:nvPr/>
        </p:nvSpPr>
        <p:spPr>
          <a:xfrm>
            <a:off x="7571780" y="6182797"/>
            <a:ext cx="6272451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Renders to native mobile views</a:t>
            </a:r>
            <a:endParaRPr sz="1600" b="0" i="0" u="none" strike="noStrike" cap="none"/>
          </a:p>
        </p:txBody>
      </p:sp>
      <p:sp>
        <p:nvSpPr>
          <p:cNvPr id="139" name="Google Shape;139;p5"/>
          <p:cNvSpPr/>
          <p:nvPr/>
        </p:nvSpPr>
        <p:spPr>
          <a:xfrm>
            <a:off x="793790" y="6810494"/>
            <a:ext cx="13042821" cy="653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Both share the same core principles: component-based architecture, JSX syntax, props, and state management. The fundamental React knowledge transfers seamlessly between platforms.</a:t>
            </a:r>
            <a:endParaRPr sz="1600" b="0" i="0" u="none" strike="noStrike" cap="non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793790" y="873800"/>
            <a:ext cx="5467588" cy="63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nter"/>
              <a:buNone/>
            </a:pPr>
            <a:r>
              <a:rPr lang="en-US" sz="40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Cross-Platform Magic</a:t>
            </a:r>
            <a:endParaRPr sz="4000" b="0" i="0" u="none" strike="noStrike" cap="none" dirty="0"/>
          </a:p>
        </p:txBody>
      </p:sp>
      <p:sp>
        <p:nvSpPr>
          <p:cNvPr id="146" name="Google Shape;146;p6"/>
          <p:cNvSpPr/>
          <p:nvPr/>
        </p:nvSpPr>
        <p:spPr>
          <a:xfrm>
            <a:off x="2403158" y="1601177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Write Once</a:t>
            </a:r>
            <a:endParaRPr sz="2000" b="0" i="0" u="none" strike="noStrike" cap="none"/>
          </a:p>
        </p:txBody>
      </p:sp>
      <p:sp>
        <p:nvSpPr>
          <p:cNvPr id="147" name="Google Shape;147;p6"/>
          <p:cNvSpPr/>
          <p:nvPr/>
        </p:nvSpPr>
        <p:spPr>
          <a:xfrm>
            <a:off x="793790" y="2089536"/>
            <a:ext cx="4161000" cy="19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Develop your application logic and UI in JavaScript once. This eliminates duplicate development efforts, reducing costs and ensuring consistency across platforms. A single team can manage the entire app ecosystem.</a:t>
            </a:r>
            <a:endParaRPr sz="1600" b="0" i="0" u="none" strike="noStrike" cap="none"/>
          </a:p>
        </p:txBody>
      </p:sp>
      <p:pic>
        <p:nvPicPr>
          <p:cNvPr id="148" name="Google Shape;148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015" y="2583656"/>
            <a:ext cx="4108371" cy="410837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6145649" y="3430191"/>
            <a:ext cx="305395" cy="38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2400" b="0" i="0" u="none" strike="noStrike" cap="none"/>
          </a:p>
        </p:txBody>
      </p:sp>
      <p:sp>
        <p:nvSpPr>
          <p:cNvPr id="150" name="Google Shape;150;p6"/>
          <p:cNvSpPr/>
          <p:nvPr/>
        </p:nvSpPr>
        <p:spPr>
          <a:xfrm>
            <a:off x="9675520" y="1601152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Platform Adaptation</a:t>
            </a:r>
            <a:endParaRPr sz="2000" b="0" i="0" u="none" strike="noStrike" cap="none"/>
          </a:p>
        </p:txBody>
      </p:sp>
      <p:sp>
        <p:nvSpPr>
          <p:cNvPr id="151" name="Google Shape;151;p6"/>
          <p:cNvSpPr/>
          <p:nvPr/>
        </p:nvSpPr>
        <p:spPr>
          <a:xfrm>
            <a:off x="9675595" y="2089498"/>
            <a:ext cx="4161000" cy="19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React Native translates your code to native components automatically. It maps JavaScript components to their native counterparts (UIView in iOS, View in Android) while preserving</a:t>
            </a:r>
            <a:r>
              <a:rPr lang="en-US" sz="16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platform</a:t>
            </a:r>
            <a:r>
              <a:rPr lang="en-US" sz="16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specific behaviors and aesthetics.</a:t>
            </a:r>
            <a:endParaRPr sz="1600" b="0" i="0" u="none" strike="noStrike" cap="none"/>
          </a:p>
        </p:txBody>
      </p:sp>
      <p:pic>
        <p:nvPicPr>
          <p:cNvPr id="152" name="Google Shape;152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61015" y="2583656"/>
            <a:ext cx="4108371" cy="410837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8179118" y="3430191"/>
            <a:ext cx="305395" cy="38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2400" b="0" i="0" u="none" strike="noStrike" cap="none"/>
          </a:p>
        </p:txBody>
      </p:sp>
      <p:sp>
        <p:nvSpPr>
          <p:cNvPr id="154" name="Google Shape;154;p6"/>
          <p:cNvSpPr/>
          <p:nvPr/>
        </p:nvSpPr>
        <p:spPr>
          <a:xfrm>
            <a:off x="9675495" y="4627577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Native Bridge</a:t>
            </a:r>
            <a:endParaRPr sz="2000" b="0" i="0" u="none" strike="noStrike" cap="none"/>
          </a:p>
        </p:txBody>
      </p:sp>
      <p:sp>
        <p:nvSpPr>
          <p:cNvPr id="155" name="Google Shape;155;p6"/>
          <p:cNvSpPr/>
          <p:nvPr/>
        </p:nvSpPr>
        <p:spPr>
          <a:xfrm>
            <a:off x="9675495" y="5068873"/>
            <a:ext cx="4161000" cy="22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JavaScript code communicates with native modules through a special "bridge." This bridge handles asynchronous JSON-based communication between the JavaScript thread and native platform, enabling access to device features like camera, geolocation, and sensors.</a:t>
            </a:r>
            <a:endParaRPr sz="1600" b="0" i="0" u="none" strike="noStrike" cap="none"/>
          </a:p>
        </p:txBody>
      </p:sp>
      <p:pic>
        <p:nvPicPr>
          <p:cNvPr id="156" name="Google Shape;156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61015" y="2583656"/>
            <a:ext cx="4108371" cy="410837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8179118" y="5463659"/>
            <a:ext cx="305395" cy="38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2400" b="0" i="0" u="none" strike="noStrike" cap="none"/>
          </a:p>
        </p:txBody>
      </p:sp>
      <p:sp>
        <p:nvSpPr>
          <p:cNvPr id="158" name="Google Shape;158;p6"/>
          <p:cNvSpPr/>
          <p:nvPr/>
        </p:nvSpPr>
        <p:spPr>
          <a:xfrm>
            <a:off x="2301121" y="4627602"/>
            <a:ext cx="2653784" cy="31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Optimal Performance</a:t>
            </a:r>
            <a:endParaRPr sz="2000" b="0" i="0" u="none" strike="noStrike" cap="none"/>
          </a:p>
        </p:txBody>
      </p:sp>
      <p:sp>
        <p:nvSpPr>
          <p:cNvPr id="159" name="Google Shape;159;p6"/>
          <p:cNvSpPr/>
          <p:nvPr/>
        </p:nvSpPr>
        <p:spPr>
          <a:xfrm>
            <a:off x="793790" y="5068848"/>
            <a:ext cx="4161115" cy="228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Achieves near-native performance for most applications. Critical UI operations run on the main thread, while JavaScript logic runs in a separate thread. For performance-critical features, you can implement native modules in platform-specific code when necessary.</a:t>
            </a:r>
            <a:endParaRPr sz="1600" b="0" i="0" u="none" strike="noStrike" cap="none"/>
          </a:p>
        </p:txBody>
      </p:sp>
      <p:pic>
        <p:nvPicPr>
          <p:cNvPr id="160" name="Google Shape;160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61015" y="2583656"/>
            <a:ext cx="4108371" cy="410837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/>
          <p:nvPr/>
        </p:nvSpPr>
        <p:spPr>
          <a:xfrm>
            <a:off x="6145649" y="5463659"/>
            <a:ext cx="305395" cy="38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2400" b="0" i="0" u="none" strike="noStrike" cap="none"/>
          </a:p>
        </p:txBody>
      </p:sp>
      <p:pic>
        <p:nvPicPr>
          <p:cNvPr id="162" name="Google Shape;162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/>
          <p:nvPr/>
        </p:nvSpPr>
        <p:spPr>
          <a:xfrm>
            <a:off x="793790" y="1621274"/>
            <a:ext cx="6799898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Community &amp; Resources</a:t>
            </a:r>
            <a:endParaRPr sz="4450" b="0" i="0" u="none" strike="noStrike" cap="none"/>
          </a:p>
        </p:txBody>
      </p:sp>
      <p:pic>
        <p:nvPicPr>
          <p:cNvPr id="169" name="Google Shape;169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2783681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/>
          <p:nvPr/>
        </p:nvSpPr>
        <p:spPr>
          <a:xfrm>
            <a:off x="793790" y="3577471"/>
            <a:ext cx="3005495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Global Developer Community</a:t>
            </a:r>
            <a:endParaRPr sz="2200" b="0" i="0" u="none" strike="noStrike" cap="none"/>
          </a:p>
        </p:txBody>
      </p:sp>
      <p:sp>
        <p:nvSpPr>
          <p:cNvPr id="171" name="Google Shape;171;p7"/>
          <p:cNvSpPr/>
          <p:nvPr/>
        </p:nvSpPr>
        <p:spPr>
          <a:xfrm>
            <a:off x="793790" y="4422219"/>
            <a:ext cx="3005495" cy="217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React Native boasts a vibrant, global community of developers, with active forums on GitHub, Reddit, Discord, and Stack Overflow.</a:t>
            </a:r>
            <a:endParaRPr sz="1750" b="0" i="0" u="none" strike="noStrike" cap="none"/>
          </a:p>
        </p:txBody>
      </p:sp>
      <p:pic>
        <p:nvPicPr>
          <p:cNvPr id="172" name="Google Shape;172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446" y="2783681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4139446" y="3577471"/>
            <a:ext cx="3005614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Open-Source Packages</a:t>
            </a:r>
            <a:endParaRPr sz="2200" b="0" i="0" u="none" strike="noStrike" cap="none"/>
          </a:p>
        </p:txBody>
      </p:sp>
      <p:sp>
        <p:nvSpPr>
          <p:cNvPr id="174" name="Google Shape;174;p7"/>
          <p:cNvSpPr/>
          <p:nvPr/>
        </p:nvSpPr>
        <p:spPr>
          <a:xfrm>
            <a:off x="4139446" y="4422219"/>
            <a:ext cx="3005614" cy="217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Thousands of open-source packages are available through npm, from UI component libraries to navigation systems and device APIs.</a:t>
            </a:r>
            <a:endParaRPr sz="1750" b="0" i="0" u="none" strike="noStrike" cap="none"/>
          </a:p>
        </p:txBody>
      </p:sp>
      <p:pic>
        <p:nvPicPr>
          <p:cNvPr id="175" name="Google Shape;175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85221" y="2783681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7485221" y="357747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Learning Resources</a:t>
            </a:r>
            <a:endParaRPr sz="2200" b="0" i="0" u="none" strike="noStrike" cap="none"/>
          </a:p>
        </p:txBody>
      </p:sp>
      <p:sp>
        <p:nvSpPr>
          <p:cNvPr id="177" name="Google Shape;177;p7"/>
          <p:cNvSpPr/>
          <p:nvPr/>
        </p:nvSpPr>
        <p:spPr>
          <a:xfrm>
            <a:off x="7485221" y="4067889"/>
            <a:ext cx="3005614" cy="254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Developers benefit from comprehensive documentation, tutorials, and courses from platforms like React Native's official website, Udemy, and YouTube.</a:t>
            </a:r>
            <a:endParaRPr sz="1750" b="0" i="0" u="none" strike="noStrike" cap="none"/>
          </a:p>
        </p:txBody>
      </p:sp>
      <p:pic>
        <p:nvPicPr>
          <p:cNvPr id="178" name="Google Shape;17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30997" y="2783681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/>
          <p:nvPr/>
        </p:nvSpPr>
        <p:spPr>
          <a:xfrm>
            <a:off x="10830997" y="357747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Corporate Support</a:t>
            </a:r>
            <a:endParaRPr sz="2200" b="0" i="0" u="none" strike="noStrike" cap="none"/>
          </a:p>
        </p:txBody>
      </p:sp>
      <p:sp>
        <p:nvSpPr>
          <p:cNvPr id="180" name="Google Shape;180;p7"/>
          <p:cNvSpPr/>
          <p:nvPr/>
        </p:nvSpPr>
        <p:spPr>
          <a:xfrm>
            <a:off x="10830997" y="4067889"/>
            <a:ext cx="3005614" cy="217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Major companies including Facebook, Microsoft, and Shopify actively contribute to the ecosystem, ensuring constant improvements and long-term support.</a:t>
            </a:r>
            <a:endParaRPr sz="1750" b="0" i="0" u="none" strike="noStrike" cap="none"/>
          </a:p>
        </p:txBody>
      </p:sp>
      <p:pic>
        <p:nvPicPr>
          <p:cNvPr id="181" name="Google Shape;181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/>
          <p:nvPr/>
        </p:nvSpPr>
        <p:spPr>
          <a:xfrm>
            <a:off x="6280190" y="704255"/>
            <a:ext cx="6349246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Flexibility &amp; Integration</a:t>
            </a:r>
            <a:endParaRPr sz="4450" b="0" i="0" u="none" strike="noStrike" cap="none"/>
          </a:p>
        </p:txBody>
      </p:sp>
      <p:sp>
        <p:nvSpPr>
          <p:cNvPr id="189" name="Google Shape;189;p8"/>
          <p:cNvSpPr/>
          <p:nvPr/>
        </p:nvSpPr>
        <p:spPr>
          <a:xfrm>
            <a:off x="6280190" y="1753195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6790373" y="175319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JavaScript</a:t>
            </a:r>
            <a:endParaRPr sz="2200" b="0" i="0" u="none" strike="noStrike" cap="none"/>
          </a:p>
        </p:txBody>
      </p:sp>
      <p:sp>
        <p:nvSpPr>
          <p:cNvPr id="191" name="Google Shape;191;p8"/>
          <p:cNvSpPr/>
          <p:nvPr/>
        </p:nvSpPr>
        <p:spPr>
          <a:xfrm>
            <a:off x="6790373" y="2243614"/>
            <a:ext cx="7046238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Build most of your app with React Native's cross-platform approach.</a:t>
            </a:r>
            <a:endParaRPr sz="1750" b="0" i="0" u="none" strike="noStrike" cap="none"/>
          </a:p>
        </p:txBody>
      </p:sp>
      <p:sp>
        <p:nvSpPr>
          <p:cNvPr id="192" name="Google Shape;192;p8"/>
          <p:cNvSpPr/>
          <p:nvPr/>
        </p:nvSpPr>
        <p:spPr>
          <a:xfrm>
            <a:off x="6620351" y="3196233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7130534" y="319623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 Native Modules</a:t>
            </a:r>
            <a:endParaRPr sz="2200" b="0" i="0" u="none" strike="noStrike" cap="none"/>
          </a:p>
        </p:txBody>
      </p:sp>
      <p:sp>
        <p:nvSpPr>
          <p:cNvPr id="194" name="Google Shape;194;p8"/>
          <p:cNvSpPr/>
          <p:nvPr/>
        </p:nvSpPr>
        <p:spPr>
          <a:xfrm>
            <a:off x="7130534" y="3686651"/>
            <a:ext cx="6706076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Need platform-specific features? Integrate native code modules.</a:t>
            </a:r>
            <a:endParaRPr sz="1750" b="0" i="0" u="none" strike="noStrike" cap="none"/>
          </a:p>
        </p:txBody>
      </p:sp>
      <p:sp>
        <p:nvSpPr>
          <p:cNvPr id="195" name="Google Shape;195;p8"/>
          <p:cNvSpPr/>
          <p:nvPr/>
        </p:nvSpPr>
        <p:spPr>
          <a:xfrm>
            <a:off x="6960632" y="4639270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7470815" y="4639270"/>
            <a:ext cx="3254454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Leverage Existing Code</a:t>
            </a:r>
            <a:endParaRPr sz="2200" b="0" i="0" u="none" strike="noStrike" cap="none"/>
          </a:p>
        </p:txBody>
      </p:sp>
      <p:sp>
        <p:nvSpPr>
          <p:cNvPr id="197" name="Google Shape;197;p8"/>
          <p:cNvSpPr/>
          <p:nvPr/>
        </p:nvSpPr>
        <p:spPr>
          <a:xfrm>
            <a:off x="7470815" y="5129689"/>
            <a:ext cx="6365796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Integrate with existing Swift, Objective-C, Java, or Kotlin code.</a:t>
            </a:r>
            <a:endParaRPr sz="1750" b="0" i="0" u="none" strike="noStrike" cap="none"/>
          </a:p>
        </p:txBody>
      </p:sp>
      <p:sp>
        <p:nvSpPr>
          <p:cNvPr id="198" name="Google Shape;198;p8"/>
          <p:cNvSpPr/>
          <p:nvPr/>
        </p:nvSpPr>
        <p:spPr>
          <a:xfrm>
            <a:off x="7300913" y="6082308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7811095" y="60823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Best of Both Worlds</a:t>
            </a:r>
            <a:endParaRPr sz="2200" b="0" i="0" u="none" strike="noStrike" cap="none"/>
          </a:p>
        </p:txBody>
      </p:sp>
      <p:sp>
        <p:nvSpPr>
          <p:cNvPr id="200" name="Google Shape;200;p8"/>
          <p:cNvSpPr/>
          <p:nvPr/>
        </p:nvSpPr>
        <p:spPr>
          <a:xfrm>
            <a:off x="7811095" y="6572726"/>
            <a:ext cx="6025515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Enjoy web development convenience with native capabilities when needed.</a:t>
            </a:r>
            <a:endParaRPr sz="1750" b="0" i="0" u="none" strike="noStrike" cap="none"/>
          </a:p>
        </p:txBody>
      </p:sp>
      <p:pic>
        <p:nvPicPr>
          <p:cNvPr id="201" name="Google Shape;201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/>
          <p:nvPr/>
        </p:nvSpPr>
        <p:spPr>
          <a:xfrm>
            <a:off x="793790" y="911304"/>
            <a:ext cx="7556421" cy="1275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nter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Ready to Build Amazing Apps?</a:t>
            </a:r>
            <a:endParaRPr sz="4000" b="0" i="0" u="none" strike="noStrike" cap="none"/>
          </a:p>
        </p:txBody>
      </p:sp>
      <p:sp>
        <p:nvSpPr>
          <p:cNvPr id="209" name="Google Shape;209;p9"/>
          <p:cNvSpPr/>
          <p:nvPr/>
        </p:nvSpPr>
        <p:spPr>
          <a:xfrm>
            <a:off x="793790" y="3105626"/>
            <a:ext cx="2314694" cy="204073"/>
          </a:xfrm>
          <a:prstGeom prst="roundRect">
            <a:avLst>
              <a:gd name="adj" fmla="val 42015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0" name="Google Shape;210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90" y="3615809"/>
            <a:ext cx="2083118" cy="116847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9"/>
          <p:cNvSpPr/>
          <p:nvPr/>
        </p:nvSpPr>
        <p:spPr>
          <a:xfrm>
            <a:off x="793790" y="5013841"/>
            <a:ext cx="2314694" cy="31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Create</a:t>
            </a:r>
            <a:endParaRPr sz="2000" b="0" i="0" u="none" strike="noStrike" cap="none"/>
          </a:p>
        </p:txBody>
      </p:sp>
      <p:sp>
        <p:nvSpPr>
          <p:cNvPr id="212" name="Google Shape;212;p9"/>
          <p:cNvSpPr/>
          <p:nvPr/>
        </p:nvSpPr>
        <p:spPr>
          <a:xfrm>
            <a:off x="793790" y="5455087"/>
            <a:ext cx="2314694" cy="98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Bring your app ideas to life with a single codebase.</a:t>
            </a:r>
            <a:endParaRPr sz="1600" b="0" i="0" u="none" strike="noStrike" cap="none"/>
          </a:p>
        </p:txBody>
      </p:sp>
      <p:sp>
        <p:nvSpPr>
          <p:cNvPr id="213" name="Google Shape;213;p9"/>
          <p:cNvSpPr/>
          <p:nvPr/>
        </p:nvSpPr>
        <p:spPr>
          <a:xfrm>
            <a:off x="3414593" y="2799398"/>
            <a:ext cx="2314694" cy="204073"/>
          </a:xfrm>
          <a:prstGeom prst="roundRect">
            <a:avLst>
              <a:gd name="adj" fmla="val 42015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4" name="Google Shape;214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4593" y="3309580"/>
            <a:ext cx="2083118" cy="116847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/>
          <p:nvPr/>
        </p:nvSpPr>
        <p:spPr>
          <a:xfrm>
            <a:off x="3414593" y="4707612"/>
            <a:ext cx="2314694" cy="31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Learn</a:t>
            </a:r>
            <a:endParaRPr sz="2000" b="0" i="0" u="none" strike="noStrike" cap="none"/>
          </a:p>
        </p:txBody>
      </p:sp>
      <p:sp>
        <p:nvSpPr>
          <p:cNvPr id="216" name="Google Shape;216;p9"/>
          <p:cNvSpPr/>
          <p:nvPr/>
        </p:nvSpPr>
        <p:spPr>
          <a:xfrm>
            <a:off x="3414593" y="5148858"/>
            <a:ext cx="2314694" cy="98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Build upon your JavaScript and React knowledge.</a:t>
            </a:r>
            <a:endParaRPr sz="1600" b="0" i="0" u="none" strike="noStrike" cap="none"/>
          </a:p>
        </p:txBody>
      </p:sp>
      <p:sp>
        <p:nvSpPr>
          <p:cNvPr id="217" name="Google Shape;217;p9"/>
          <p:cNvSpPr/>
          <p:nvPr/>
        </p:nvSpPr>
        <p:spPr>
          <a:xfrm>
            <a:off x="6035397" y="2493288"/>
            <a:ext cx="2314813" cy="204073"/>
          </a:xfrm>
          <a:prstGeom prst="roundRect">
            <a:avLst>
              <a:gd name="adj" fmla="val 42015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8" name="Google Shape;218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35397" y="3003471"/>
            <a:ext cx="2083237" cy="116859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/>
          <p:nvPr/>
        </p:nvSpPr>
        <p:spPr>
          <a:xfrm>
            <a:off x="6035397" y="4401622"/>
            <a:ext cx="2314813" cy="31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Join</a:t>
            </a:r>
            <a:endParaRPr sz="2000" b="0" i="0" u="none" strike="noStrike" cap="none"/>
          </a:p>
        </p:txBody>
      </p:sp>
      <p:sp>
        <p:nvSpPr>
          <p:cNvPr id="220" name="Google Shape;220;p9"/>
          <p:cNvSpPr/>
          <p:nvPr/>
        </p:nvSpPr>
        <p:spPr>
          <a:xfrm>
            <a:off x="6035397" y="4842867"/>
            <a:ext cx="2314813" cy="98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Become part of a thriving developer community.</a:t>
            </a:r>
            <a:endParaRPr sz="1600" b="0" i="0" u="none" strike="noStrike" cap="none"/>
          </a:p>
        </p:txBody>
      </p:sp>
      <p:sp>
        <p:nvSpPr>
          <p:cNvPr id="221" name="Google Shape;221;p9"/>
          <p:cNvSpPr/>
          <p:nvPr/>
        </p:nvSpPr>
        <p:spPr>
          <a:xfrm>
            <a:off x="793790" y="6664762"/>
            <a:ext cx="7556421" cy="653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React Native combines web development ease with native app performance. Start your journey today and transform your ideas into reality!</a:t>
            </a:r>
            <a:endParaRPr sz="1600" b="0" i="0" u="none" strike="noStrike" cap="non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0"/>
          <p:cNvSpPr/>
          <p:nvPr/>
        </p:nvSpPr>
        <p:spPr>
          <a:xfrm>
            <a:off x="793790" y="630555"/>
            <a:ext cx="7042904" cy="880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Inter"/>
              <a:buNone/>
            </a:pPr>
            <a:r>
              <a:rPr lang="en-US" sz="55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Summary</a:t>
            </a:r>
            <a:endParaRPr sz="5500" b="0" i="0" u="none" strike="noStrike" cap="none"/>
          </a:p>
        </p:txBody>
      </p:sp>
      <p:sp>
        <p:nvSpPr>
          <p:cNvPr id="229" name="Google Shape;229;p10"/>
          <p:cNvSpPr/>
          <p:nvPr/>
        </p:nvSpPr>
        <p:spPr>
          <a:xfrm>
            <a:off x="793790" y="1816894"/>
            <a:ext cx="7556421" cy="653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React Native empowers developers to build cross-platform mobile apps efficiently.</a:t>
            </a:r>
            <a:endParaRPr sz="1600" b="0" i="0" u="none" strike="noStrike" cap="none" dirty="0"/>
          </a:p>
        </p:txBody>
      </p:sp>
      <p:pic>
        <p:nvPicPr>
          <p:cNvPr id="230" name="Google Shape;23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90" y="2699861"/>
            <a:ext cx="1020723" cy="122479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/>
          <p:nvPr/>
        </p:nvSpPr>
        <p:spPr>
          <a:xfrm>
            <a:off x="2120622" y="2699862"/>
            <a:ext cx="3213973" cy="522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Cross-Platform Efficiency</a:t>
            </a:r>
            <a:endParaRPr sz="2000" b="0" i="0" u="none" strike="noStrike" cap="none" dirty="0"/>
          </a:p>
        </p:txBody>
      </p:sp>
      <p:sp>
        <p:nvSpPr>
          <p:cNvPr id="232" name="Google Shape;232;p10"/>
          <p:cNvSpPr/>
          <p:nvPr/>
        </p:nvSpPr>
        <p:spPr>
          <a:xfrm>
            <a:off x="2120622" y="3610450"/>
            <a:ext cx="6229588" cy="6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Write once, deploy to iOS and Android.</a:t>
            </a:r>
            <a:endParaRPr sz="1600" b="0" i="0" u="none" strike="noStrike" cap="none" dirty="0"/>
          </a:p>
        </p:txBody>
      </p:sp>
      <p:pic>
        <p:nvPicPr>
          <p:cNvPr id="233" name="Google Shape;233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3790" y="3924657"/>
            <a:ext cx="1020723" cy="122479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0"/>
          <p:cNvSpPr/>
          <p:nvPr/>
        </p:nvSpPr>
        <p:spPr>
          <a:xfrm>
            <a:off x="2120622" y="4128730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Native Performance</a:t>
            </a:r>
            <a:endParaRPr sz="2000" b="0" i="0" u="none" strike="noStrike" cap="none"/>
          </a:p>
        </p:txBody>
      </p:sp>
      <p:sp>
        <p:nvSpPr>
          <p:cNvPr id="235" name="Google Shape;235;p10"/>
          <p:cNvSpPr/>
          <p:nvPr/>
        </p:nvSpPr>
        <p:spPr>
          <a:xfrm>
            <a:off x="2120622" y="4569976"/>
            <a:ext cx="622958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Achieves near-native speed through the JavaScript bridge.</a:t>
            </a:r>
            <a:endParaRPr sz="1600" b="0" i="0" u="none" strike="noStrike" cap="none"/>
          </a:p>
        </p:txBody>
      </p:sp>
      <p:pic>
        <p:nvPicPr>
          <p:cNvPr id="236" name="Google Shape;236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3790" y="5149453"/>
            <a:ext cx="1020723" cy="122479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0"/>
          <p:cNvSpPr/>
          <p:nvPr/>
        </p:nvSpPr>
        <p:spPr>
          <a:xfrm>
            <a:off x="2120622" y="5353526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Flexible Integration</a:t>
            </a:r>
            <a:endParaRPr sz="2000" b="0" i="0" u="none" strike="noStrike" cap="none"/>
          </a:p>
        </p:txBody>
      </p:sp>
      <p:sp>
        <p:nvSpPr>
          <p:cNvPr id="238" name="Google Shape;238;p10"/>
          <p:cNvSpPr/>
          <p:nvPr/>
        </p:nvSpPr>
        <p:spPr>
          <a:xfrm>
            <a:off x="2120622" y="5794772"/>
            <a:ext cx="622958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Combine with native modules when needed.</a:t>
            </a:r>
            <a:endParaRPr sz="1600" b="0" i="0" u="none" strike="noStrike" cap="none"/>
          </a:p>
        </p:txBody>
      </p:sp>
      <p:pic>
        <p:nvPicPr>
          <p:cNvPr id="239" name="Google Shape;239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3790" y="6374249"/>
            <a:ext cx="1020723" cy="122479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0"/>
          <p:cNvSpPr/>
          <p:nvPr/>
        </p:nvSpPr>
        <p:spPr>
          <a:xfrm>
            <a:off x="2120622" y="6578322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Strong Ecosystem</a:t>
            </a:r>
            <a:endParaRPr sz="2000" b="0" i="0" u="none" strike="noStrike" cap="none"/>
          </a:p>
        </p:txBody>
      </p:sp>
      <p:sp>
        <p:nvSpPr>
          <p:cNvPr id="241" name="Google Shape;241;p10"/>
          <p:cNvSpPr/>
          <p:nvPr/>
        </p:nvSpPr>
        <p:spPr>
          <a:xfrm>
            <a:off x="2120622" y="7019568"/>
            <a:ext cx="622958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Backed by Facebook with vibrant community support.</a:t>
            </a:r>
            <a:endParaRPr sz="1600" b="0" i="0" u="none" strike="noStrike" cap="non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766</Words>
  <Application>Microsoft Office PowerPoint</Application>
  <PresentationFormat>Custom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toan luong</cp:lastModifiedBy>
  <cp:revision>1</cp:revision>
  <dcterms:created xsi:type="dcterms:W3CDTF">2025-03-11T07:53:12Z</dcterms:created>
  <dcterms:modified xsi:type="dcterms:W3CDTF">2026-05-24T07:12:09Z</dcterms:modified>
</cp:coreProperties>
</file>